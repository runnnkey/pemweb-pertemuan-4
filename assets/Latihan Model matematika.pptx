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62" r:id="rId5"/>
    <p:sldId id="265" r:id="rId6"/>
    <p:sldId id="259" r:id="rId7"/>
    <p:sldId id="260" r:id="rId8"/>
    <p:sldId id="261" r:id="rId9"/>
    <p:sldId id="263" r:id="rId10"/>
    <p:sldId id="264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51"/>
    <p:restoredTop sz="94223"/>
  </p:normalViewPr>
  <p:slideViewPr>
    <p:cSldViewPr snapToGrid="0">
      <p:cViewPr varScale="1">
        <p:scale>
          <a:sx n="50" d="100"/>
          <a:sy n="50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D61240-F3E1-4F2D-BDEC-F927C71E32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E28FA1-7829-4C81-956B-1F28C982A12A}">
      <dgm:prSet/>
      <dgm:spPr/>
      <dgm:t>
        <a:bodyPr/>
        <a:lstStyle/>
        <a:p>
          <a:r>
            <a:rPr lang="en-US"/>
            <a:t>2. </a:t>
          </a:r>
          <a:r>
            <a:rPr lang="en-ID"/>
            <a:t>Sebuah </a:t>
          </a:r>
          <a:r>
            <a:rPr lang="en-ID" b="1"/>
            <a:t>kantin kampus</a:t>
          </a:r>
          <a:r>
            <a:rPr lang="en-ID"/>
            <a:t> menjual </a:t>
          </a:r>
          <a:r>
            <a:rPr lang="en-ID" b="1"/>
            <a:t>120 porsi makanan per hari</a:t>
          </a:r>
          <a:r>
            <a:rPr lang="en-ID"/>
            <a:t>.</a:t>
          </a:r>
          <a:br>
            <a:rPr lang="en-ID"/>
          </a:br>
          <a:r>
            <a:rPr lang="en-ID"/>
            <a:t>Setiap hari jumlah pembeli </a:t>
          </a:r>
          <a:r>
            <a:rPr lang="en-ID" b="1"/>
            <a:t>bertambah 10%</a:t>
          </a:r>
          <a:r>
            <a:rPr lang="en-ID"/>
            <a:t> dari hari sebelumnya.</a:t>
          </a:r>
          <a:endParaRPr lang="en-US"/>
        </a:p>
      </dgm:t>
    </dgm:pt>
    <dgm:pt modelId="{BA084B26-7286-42F1-91B6-2380FA15AE48}" type="parTrans" cxnId="{AB91DC33-47A6-4303-846E-13C37BD8FF1C}">
      <dgm:prSet/>
      <dgm:spPr/>
      <dgm:t>
        <a:bodyPr/>
        <a:lstStyle/>
        <a:p>
          <a:endParaRPr lang="en-US"/>
        </a:p>
      </dgm:t>
    </dgm:pt>
    <dgm:pt modelId="{ECAE32C8-CD74-4099-A3B4-BBC2E636E02C}" type="sibTrans" cxnId="{AB91DC33-47A6-4303-846E-13C37BD8FF1C}">
      <dgm:prSet/>
      <dgm:spPr/>
      <dgm:t>
        <a:bodyPr/>
        <a:lstStyle/>
        <a:p>
          <a:endParaRPr lang="en-US"/>
        </a:p>
      </dgm:t>
    </dgm:pt>
    <dgm:pt modelId="{47772A36-AC88-4A26-97B2-DF785C323ED9}">
      <dgm:prSet/>
      <dgm:spPr/>
      <dgm:t>
        <a:bodyPr/>
        <a:lstStyle/>
        <a:p>
          <a:r>
            <a:rPr lang="en-ID"/>
            <a:t>Pertanyaan:</a:t>
          </a:r>
          <a:endParaRPr lang="en-US"/>
        </a:p>
      </dgm:t>
    </dgm:pt>
    <dgm:pt modelId="{993FEDB3-4A95-40AB-B050-177C35122700}" type="parTrans" cxnId="{8EC9AC26-F9C8-4E86-87E7-95A27D93F11D}">
      <dgm:prSet/>
      <dgm:spPr/>
      <dgm:t>
        <a:bodyPr/>
        <a:lstStyle/>
        <a:p>
          <a:endParaRPr lang="en-US"/>
        </a:p>
      </dgm:t>
    </dgm:pt>
    <dgm:pt modelId="{8C6866D3-7541-4694-B76C-1AA1D1B9E9EF}" type="sibTrans" cxnId="{8EC9AC26-F9C8-4E86-87E7-95A27D93F11D}">
      <dgm:prSet/>
      <dgm:spPr/>
      <dgm:t>
        <a:bodyPr/>
        <a:lstStyle/>
        <a:p>
          <a:endParaRPr lang="en-US"/>
        </a:p>
      </dgm:t>
    </dgm:pt>
    <dgm:pt modelId="{D24158B6-1EBD-4D6F-A672-DE5AB50BF959}">
      <dgm:prSet/>
      <dgm:spPr/>
      <dgm:t>
        <a:bodyPr/>
        <a:lstStyle/>
        <a:p>
          <a:r>
            <a:rPr lang="en-ID"/>
            <a:t>1 Berapa jumlah pembeli setelah </a:t>
          </a:r>
          <a:r>
            <a:rPr lang="en-ID" b="1"/>
            <a:t>7 hari</a:t>
          </a:r>
          <a:r>
            <a:rPr lang="en-ID"/>
            <a:t>? </a:t>
          </a:r>
          <a:endParaRPr lang="en-US"/>
        </a:p>
      </dgm:t>
    </dgm:pt>
    <dgm:pt modelId="{BDDD6D05-193A-4B60-8AE2-0AA1FADFE0DD}" type="parTrans" cxnId="{4B0CDB95-F9A5-405C-B8D1-9EA942196FDE}">
      <dgm:prSet/>
      <dgm:spPr/>
      <dgm:t>
        <a:bodyPr/>
        <a:lstStyle/>
        <a:p>
          <a:endParaRPr lang="en-US"/>
        </a:p>
      </dgm:t>
    </dgm:pt>
    <dgm:pt modelId="{B0E50D2D-F9B4-44C8-951D-34E75AD74463}" type="sibTrans" cxnId="{4B0CDB95-F9A5-405C-B8D1-9EA942196FDE}">
      <dgm:prSet/>
      <dgm:spPr/>
      <dgm:t>
        <a:bodyPr/>
        <a:lstStyle/>
        <a:p>
          <a:endParaRPr lang="en-US"/>
        </a:p>
      </dgm:t>
    </dgm:pt>
    <dgm:pt modelId="{9E02ECC5-A21A-49C6-BB9B-F6DC79098BAE}">
      <dgm:prSet/>
      <dgm:spPr/>
      <dgm:t>
        <a:bodyPr/>
        <a:lstStyle/>
        <a:p>
          <a:r>
            <a:rPr lang="en-ID"/>
            <a:t>2. Jika pertumbuhan hanya </a:t>
          </a:r>
          <a:r>
            <a:rPr lang="en-ID" b="1"/>
            <a:t>5%</a:t>
          </a:r>
          <a:r>
            <a:rPr lang="en-ID"/>
            <a:t>, bagaimana hasilnya?</a:t>
          </a:r>
          <a:endParaRPr lang="en-US"/>
        </a:p>
      </dgm:t>
    </dgm:pt>
    <dgm:pt modelId="{2BEF33FA-DD03-4B4A-9B09-206B4956ABF7}" type="parTrans" cxnId="{920DB047-7211-46BA-8232-96DD91914E02}">
      <dgm:prSet/>
      <dgm:spPr/>
      <dgm:t>
        <a:bodyPr/>
        <a:lstStyle/>
        <a:p>
          <a:endParaRPr lang="en-US"/>
        </a:p>
      </dgm:t>
    </dgm:pt>
    <dgm:pt modelId="{E08518E6-7098-40A5-8145-31B3963FEF37}" type="sibTrans" cxnId="{920DB047-7211-46BA-8232-96DD91914E02}">
      <dgm:prSet/>
      <dgm:spPr/>
      <dgm:t>
        <a:bodyPr/>
        <a:lstStyle/>
        <a:p>
          <a:endParaRPr lang="en-US"/>
        </a:p>
      </dgm:t>
    </dgm:pt>
    <dgm:pt modelId="{76DC1644-D5FC-4125-BA5B-C5B7D84E7728}">
      <dgm:prSet/>
      <dgm:spPr/>
      <dgm:t>
        <a:bodyPr/>
        <a:lstStyle/>
        <a:p>
          <a:r>
            <a:rPr lang="en-ID"/>
            <a:t>3. Buat grafik  pertumbuhan pembeli selama </a:t>
          </a:r>
          <a:r>
            <a:rPr lang="en-ID" b="1"/>
            <a:t>10 hari</a:t>
          </a:r>
          <a:r>
            <a:rPr lang="en-ID"/>
            <a:t>.</a:t>
          </a:r>
          <a:endParaRPr lang="en-US"/>
        </a:p>
      </dgm:t>
    </dgm:pt>
    <dgm:pt modelId="{31ACB889-C980-44B9-BA39-4D0CE82826C8}" type="parTrans" cxnId="{9D0646E4-7E20-4949-BFD6-A12C2FA0897D}">
      <dgm:prSet/>
      <dgm:spPr/>
      <dgm:t>
        <a:bodyPr/>
        <a:lstStyle/>
        <a:p>
          <a:endParaRPr lang="en-US"/>
        </a:p>
      </dgm:t>
    </dgm:pt>
    <dgm:pt modelId="{E0F73F4D-44BC-4DBC-9167-E9936CFD95D4}" type="sibTrans" cxnId="{9D0646E4-7E20-4949-BFD6-A12C2FA0897D}">
      <dgm:prSet/>
      <dgm:spPr/>
      <dgm:t>
        <a:bodyPr/>
        <a:lstStyle/>
        <a:p>
          <a:endParaRPr lang="en-US"/>
        </a:p>
      </dgm:t>
    </dgm:pt>
    <dgm:pt modelId="{CF73D083-5EE7-3E4D-A0D6-0B5041E9FA8F}" type="pres">
      <dgm:prSet presAssocID="{54D61240-F3E1-4F2D-BDEC-F927C71E324F}" presName="linear" presStyleCnt="0">
        <dgm:presLayoutVars>
          <dgm:animLvl val="lvl"/>
          <dgm:resizeHandles val="exact"/>
        </dgm:presLayoutVars>
      </dgm:prSet>
      <dgm:spPr/>
    </dgm:pt>
    <dgm:pt modelId="{E2EE1B72-ECB0-D341-A3D9-F61F58E2BBE3}" type="pres">
      <dgm:prSet presAssocID="{33E28FA1-7829-4C81-956B-1F28C982A12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70E03C4-AB71-124A-9B25-A1EC85517630}" type="pres">
      <dgm:prSet presAssocID="{ECAE32C8-CD74-4099-A3B4-BBC2E636E02C}" presName="spacer" presStyleCnt="0"/>
      <dgm:spPr/>
    </dgm:pt>
    <dgm:pt modelId="{25010B10-108A-3D43-B576-F596F765D292}" type="pres">
      <dgm:prSet presAssocID="{47772A36-AC88-4A26-97B2-DF785C323ED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F44041A-09AE-3A47-AD8E-4615BB410688}" type="pres">
      <dgm:prSet presAssocID="{8C6866D3-7541-4694-B76C-1AA1D1B9E9EF}" presName="spacer" presStyleCnt="0"/>
      <dgm:spPr/>
    </dgm:pt>
    <dgm:pt modelId="{93A071A6-673C-014D-922F-21644B2AEDE1}" type="pres">
      <dgm:prSet presAssocID="{D24158B6-1EBD-4D6F-A672-DE5AB50BF95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7554DBF-847A-6B4F-87A5-5F9902043E38}" type="pres">
      <dgm:prSet presAssocID="{B0E50D2D-F9B4-44C8-951D-34E75AD74463}" presName="spacer" presStyleCnt="0"/>
      <dgm:spPr/>
    </dgm:pt>
    <dgm:pt modelId="{F8BC08B9-A29E-914A-B637-6404440CD133}" type="pres">
      <dgm:prSet presAssocID="{9E02ECC5-A21A-49C6-BB9B-F6DC79098BA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4181B02-F048-7C49-834D-65238D8CD59C}" type="pres">
      <dgm:prSet presAssocID="{E08518E6-7098-40A5-8145-31B3963FEF37}" presName="spacer" presStyleCnt="0"/>
      <dgm:spPr/>
    </dgm:pt>
    <dgm:pt modelId="{102AAAB7-84BC-7C45-B25C-E285864F59AE}" type="pres">
      <dgm:prSet presAssocID="{76DC1644-D5FC-4125-BA5B-C5B7D84E772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91AB111-6662-054B-BF11-44AB0F32F6E5}" type="presOf" srcId="{54D61240-F3E1-4F2D-BDEC-F927C71E324F}" destId="{CF73D083-5EE7-3E4D-A0D6-0B5041E9FA8F}" srcOrd="0" destOrd="0" presId="urn:microsoft.com/office/officeart/2005/8/layout/vList2"/>
    <dgm:cxn modelId="{112A9B25-1003-5941-8810-B85C33A868E1}" type="presOf" srcId="{D24158B6-1EBD-4D6F-A672-DE5AB50BF959}" destId="{93A071A6-673C-014D-922F-21644B2AEDE1}" srcOrd="0" destOrd="0" presId="urn:microsoft.com/office/officeart/2005/8/layout/vList2"/>
    <dgm:cxn modelId="{8EC9AC26-F9C8-4E86-87E7-95A27D93F11D}" srcId="{54D61240-F3E1-4F2D-BDEC-F927C71E324F}" destId="{47772A36-AC88-4A26-97B2-DF785C323ED9}" srcOrd="1" destOrd="0" parTransId="{993FEDB3-4A95-40AB-B050-177C35122700}" sibTransId="{8C6866D3-7541-4694-B76C-1AA1D1B9E9EF}"/>
    <dgm:cxn modelId="{AB91DC33-47A6-4303-846E-13C37BD8FF1C}" srcId="{54D61240-F3E1-4F2D-BDEC-F927C71E324F}" destId="{33E28FA1-7829-4C81-956B-1F28C982A12A}" srcOrd="0" destOrd="0" parTransId="{BA084B26-7286-42F1-91B6-2380FA15AE48}" sibTransId="{ECAE32C8-CD74-4099-A3B4-BBC2E636E02C}"/>
    <dgm:cxn modelId="{920DB047-7211-46BA-8232-96DD91914E02}" srcId="{54D61240-F3E1-4F2D-BDEC-F927C71E324F}" destId="{9E02ECC5-A21A-49C6-BB9B-F6DC79098BAE}" srcOrd="3" destOrd="0" parTransId="{2BEF33FA-DD03-4B4A-9B09-206B4956ABF7}" sibTransId="{E08518E6-7098-40A5-8145-31B3963FEF37}"/>
    <dgm:cxn modelId="{4B0CDB95-F9A5-405C-B8D1-9EA942196FDE}" srcId="{54D61240-F3E1-4F2D-BDEC-F927C71E324F}" destId="{D24158B6-1EBD-4D6F-A672-DE5AB50BF959}" srcOrd="2" destOrd="0" parTransId="{BDDD6D05-193A-4B60-8AE2-0AA1FADFE0DD}" sibTransId="{B0E50D2D-F9B4-44C8-951D-34E75AD74463}"/>
    <dgm:cxn modelId="{401D9298-1CAC-904C-9B3F-2173BD90B58B}" type="presOf" srcId="{9E02ECC5-A21A-49C6-BB9B-F6DC79098BAE}" destId="{F8BC08B9-A29E-914A-B637-6404440CD133}" srcOrd="0" destOrd="0" presId="urn:microsoft.com/office/officeart/2005/8/layout/vList2"/>
    <dgm:cxn modelId="{685BDCB2-D0B3-B248-875A-C068AEA70978}" type="presOf" srcId="{76DC1644-D5FC-4125-BA5B-C5B7D84E7728}" destId="{102AAAB7-84BC-7C45-B25C-E285864F59AE}" srcOrd="0" destOrd="0" presId="urn:microsoft.com/office/officeart/2005/8/layout/vList2"/>
    <dgm:cxn modelId="{3CA4D8C3-A0D5-D34D-A9F5-2EC1F5AEC34C}" type="presOf" srcId="{47772A36-AC88-4A26-97B2-DF785C323ED9}" destId="{25010B10-108A-3D43-B576-F596F765D292}" srcOrd="0" destOrd="0" presId="urn:microsoft.com/office/officeart/2005/8/layout/vList2"/>
    <dgm:cxn modelId="{FC5038E3-77DA-F84D-A165-305AA0285274}" type="presOf" srcId="{33E28FA1-7829-4C81-956B-1F28C982A12A}" destId="{E2EE1B72-ECB0-D341-A3D9-F61F58E2BBE3}" srcOrd="0" destOrd="0" presId="urn:microsoft.com/office/officeart/2005/8/layout/vList2"/>
    <dgm:cxn modelId="{9D0646E4-7E20-4949-BFD6-A12C2FA0897D}" srcId="{54D61240-F3E1-4F2D-BDEC-F927C71E324F}" destId="{76DC1644-D5FC-4125-BA5B-C5B7D84E7728}" srcOrd="4" destOrd="0" parTransId="{31ACB889-C980-44B9-BA39-4D0CE82826C8}" sibTransId="{E0F73F4D-44BC-4DBC-9167-E9936CFD95D4}"/>
    <dgm:cxn modelId="{C718EF9D-6129-8D4A-9B9A-ABB83E448C5A}" type="presParOf" srcId="{CF73D083-5EE7-3E4D-A0D6-0B5041E9FA8F}" destId="{E2EE1B72-ECB0-D341-A3D9-F61F58E2BBE3}" srcOrd="0" destOrd="0" presId="urn:microsoft.com/office/officeart/2005/8/layout/vList2"/>
    <dgm:cxn modelId="{059935D8-3585-7441-8EA6-D1C9FB18DBD6}" type="presParOf" srcId="{CF73D083-5EE7-3E4D-A0D6-0B5041E9FA8F}" destId="{F70E03C4-AB71-124A-9B25-A1EC85517630}" srcOrd="1" destOrd="0" presId="urn:microsoft.com/office/officeart/2005/8/layout/vList2"/>
    <dgm:cxn modelId="{AE6C3E58-0F03-8E4C-8E14-F2A3B54753EE}" type="presParOf" srcId="{CF73D083-5EE7-3E4D-A0D6-0B5041E9FA8F}" destId="{25010B10-108A-3D43-B576-F596F765D292}" srcOrd="2" destOrd="0" presId="urn:microsoft.com/office/officeart/2005/8/layout/vList2"/>
    <dgm:cxn modelId="{C2D35342-AE3A-5B4B-A32C-5603222908CD}" type="presParOf" srcId="{CF73D083-5EE7-3E4D-A0D6-0B5041E9FA8F}" destId="{9F44041A-09AE-3A47-AD8E-4615BB410688}" srcOrd="3" destOrd="0" presId="urn:microsoft.com/office/officeart/2005/8/layout/vList2"/>
    <dgm:cxn modelId="{8128E47A-87BF-C541-8CB5-CF076AD3DA2E}" type="presParOf" srcId="{CF73D083-5EE7-3E4D-A0D6-0B5041E9FA8F}" destId="{93A071A6-673C-014D-922F-21644B2AEDE1}" srcOrd="4" destOrd="0" presId="urn:microsoft.com/office/officeart/2005/8/layout/vList2"/>
    <dgm:cxn modelId="{931985DB-5C8F-DE40-BFCF-41EEF4245EFE}" type="presParOf" srcId="{CF73D083-5EE7-3E4D-A0D6-0B5041E9FA8F}" destId="{B7554DBF-847A-6B4F-87A5-5F9902043E38}" srcOrd="5" destOrd="0" presId="urn:microsoft.com/office/officeart/2005/8/layout/vList2"/>
    <dgm:cxn modelId="{9F282F07-D8FF-9E48-AB76-B88E9A801C98}" type="presParOf" srcId="{CF73D083-5EE7-3E4D-A0D6-0B5041E9FA8F}" destId="{F8BC08B9-A29E-914A-B637-6404440CD133}" srcOrd="6" destOrd="0" presId="urn:microsoft.com/office/officeart/2005/8/layout/vList2"/>
    <dgm:cxn modelId="{AC6DCC08-E8DD-1F45-A57F-96947B04E26F}" type="presParOf" srcId="{CF73D083-5EE7-3E4D-A0D6-0B5041E9FA8F}" destId="{E4181B02-F048-7C49-834D-65238D8CD59C}" srcOrd="7" destOrd="0" presId="urn:microsoft.com/office/officeart/2005/8/layout/vList2"/>
    <dgm:cxn modelId="{F9607AEB-E355-D942-80D3-5ABFAF4D3E54}" type="presParOf" srcId="{CF73D083-5EE7-3E4D-A0D6-0B5041E9FA8F}" destId="{102AAAB7-84BC-7C45-B25C-E285864F59A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F1106E-553D-4A8F-9EE8-704A700A8A5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865093-A494-4FFB-B65E-FAC4911C3492}">
      <dgm:prSet/>
      <dgm:spPr/>
      <dgm:t>
        <a:bodyPr/>
        <a:lstStyle/>
        <a:p>
          <a:r>
            <a:rPr lang="en-US"/>
            <a:t>3. </a:t>
          </a:r>
          <a:r>
            <a:rPr lang="en-ID"/>
            <a:t>Sebuah </a:t>
          </a:r>
          <a:r>
            <a:rPr lang="en-ID" b="1"/>
            <a:t>puskesmas di Pulau Lombok</a:t>
          </a:r>
          <a:r>
            <a:rPr lang="en-ID"/>
            <a:t> melaporkan bahwa pada awal tahun terdapat </a:t>
          </a:r>
          <a:r>
            <a:rPr lang="en-ID" b="1"/>
            <a:t>50 kasus Tuberkulosis (TB)</a:t>
          </a:r>
          <a:r>
            <a:rPr lang="en-ID"/>
            <a:t> yang terdeteksi. Berdasarkan data beberapa bulan sebelumnya, jumlah kasus TB </a:t>
          </a:r>
          <a:r>
            <a:rPr lang="en-ID" b="1"/>
            <a:t>meningkat sekitar 8% setiap bulan</a:t>
          </a:r>
          <a:r>
            <a:rPr lang="en-ID"/>
            <a:t> karena faktor:</a:t>
          </a:r>
          <a:endParaRPr lang="en-US"/>
        </a:p>
      </dgm:t>
    </dgm:pt>
    <dgm:pt modelId="{3ABB9427-DFEE-4536-837B-22F407724E1A}" type="parTrans" cxnId="{6B1932AD-5DA1-47FE-99CC-DB27E05F64AD}">
      <dgm:prSet/>
      <dgm:spPr/>
      <dgm:t>
        <a:bodyPr/>
        <a:lstStyle/>
        <a:p>
          <a:endParaRPr lang="en-US"/>
        </a:p>
      </dgm:t>
    </dgm:pt>
    <dgm:pt modelId="{231BF31A-95C9-4623-B90E-25CEA9C4D488}" type="sibTrans" cxnId="{6B1932AD-5DA1-47FE-99CC-DB27E05F64AD}">
      <dgm:prSet/>
      <dgm:spPr/>
      <dgm:t>
        <a:bodyPr/>
        <a:lstStyle/>
        <a:p>
          <a:endParaRPr lang="en-US"/>
        </a:p>
      </dgm:t>
    </dgm:pt>
    <dgm:pt modelId="{5B007831-AD9B-4C81-A79F-8F4FD3CA39D5}">
      <dgm:prSet/>
      <dgm:spPr/>
      <dgm:t>
        <a:bodyPr/>
        <a:lstStyle/>
        <a:p>
          <a:r>
            <a:rPr lang="en-ID"/>
            <a:t>keterlambatan diagnosis</a:t>
          </a:r>
          <a:endParaRPr lang="en-US"/>
        </a:p>
      </dgm:t>
    </dgm:pt>
    <dgm:pt modelId="{33E6EFB1-0E20-4C15-83DC-32687ABAAC89}" type="parTrans" cxnId="{CB186AB5-65D4-493B-8216-9F5238108D13}">
      <dgm:prSet/>
      <dgm:spPr/>
      <dgm:t>
        <a:bodyPr/>
        <a:lstStyle/>
        <a:p>
          <a:endParaRPr lang="en-US"/>
        </a:p>
      </dgm:t>
    </dgm:pt>
    <dgm:pt modelId="{8C3701C3-B28F-49DB-A406-D47339EDE804}" type="sibTrans" cxnId="{CB186AB5-65D4-493B-8216-9F5238108D13}">
      <dgm:prSet/>
      <dgm:spPr/>
      <dgm:t>
        <a:bodyPr/>
        <a:lstStyle/>
        <a:p>
          <a:endParaRPr lang="en-US"/>
        </a:p>
      </dgm:t>
    </dgm:pt>
    <dgm:pt modelId="{00521385-1C34-44C8-AE7E-28F1837D08E3}">
      <dgm:prSet/>
      <dgm:spPr/>
      <dgm:t>
        <a:bodyPr/>
        <a:lstStyle/>
        <a:p>
          <a:r>
            <a:rPr lang="en-ID"/>
            <a:t>kepadatan penduduk</a:t>
          </a:r>
          <a:endParaRPr lang="en-US"/>
        </a:p>
      </dgm:t>
    </dgm:pt>
    <dgm:pt modelId="{DA1D1CE0-F823-49AF-B73E-44D778789F14}" type="parTrans" cxnId="{7A35D2BA-8702-45D9-97AC-7449AB8E57AF}">
      <dgm:prSet/>
      <dgm:spPr/>
      <dgm:t>
        <a:bodyPr/>
        <a:lstStyle/>
        <a:p>
          <a:endParaRPr lang="en-US"/>
        </a:p>
      </dgm:t>
    </dgm:pt>
    <dgm:pt modelId="{7B61D681-3A95-4967-85B0-E286008266FD}" type="sibTrans" cxnId="{7A35D2BA-8702-45D9-97AC-7449AB8E57AF}">
      <dgm:prSet/>
      <dgm:spPr/>
      <dgm:t>
        <a:bodyPr/>
        <a:lstStyle/>
        <a:p>
          <a:endParaRPr lang="en-US"/>
        </a:p>
      </dgm:t>
    </dgm:pt>
    <dgm:pt modelId="{63A02861-0B1A-4DAE-A4F4-D2A02F304474}">
      <dgm:prSet/>
      <dgm:spPr/>
      <dgm:t>
        <a:bodyPr/>
        <a:lstStyle/>
        <a:p>
          <a:r>
            <a:rPr lang="en-ID"/>
            <a:t>kurangnya kepatuhan minum obat</a:t>
          </a:r>
          <a:endParaRPr lang="en-US"/>
        </a:p>
      </dgm:t>
    </dgm:pt>
    <dgm:pt modelId="{30CA4C1D-F6CD-482F-8B33-4A256841E190}" type="parTrans" cxnId="{586CD17D-A3BB-4EAE-963E-88DE239B8355}">
      <dgm:prSet/>
      <dgm:spPr/>
      <dgm:t>
        <a:bodyPr/>
        <a:lstStyle/>
        <a:p>
          <a:endParaRPr lang="en-US"/>
        </a:p>
      </dgm:t>
    </dgm:pt>
    <dgm:pt modelId="{E8A7288A-5302-4252-850A-CADA071C9665}" type="sibTrans" cxnId="{586CD17D-A3BB-4EAE-963E-88DE239B8355}">
      <dgm:prSet/>
      <dgm:spPr/>
      <dgm:t>
        <a:bodyPr/>
        <a:lstStyle/>
        <a:p>
          <a:endParaRPr lang="en-US"/>
        </a:p>
      </dgm:t>
    </dgm:pt>
    <dgm:pt modelId="{0EFA87C4-942E-4136-AF6E-8FB578D1E261}">
      <dgm:prSet/>
      <dgm:spPr/>
      <dgm:t>
        <a:bodyPr/>
        <a:lstStyle/>
        <a:p>
          <a:r>
            <a:rPr lang="en-ID"/>
            <a:t>Dinas kesehatan ingin </a:t>
          </a:r>
          <a:r>
            <a:rPr lang="en-ID" b="1"/>
            <a:t>memprediksi jumlah kasus TB dalam beberapa bulan ke depan</a:t>
          </a:r>
          <a:r>
            <a:rPr lang="en-ID"/>
            <a:t> untuk menentukan strategi penanganan.</a:t>
          </a:r>
          <a:endParaRPr lang="en-US"/>
        </a:p>
      </dgm:t>
    </dgm:pt>
    <dgm:pt modelId="{4E9C5F2B-968C-4032-A3AA-4F46617B2F57}" type="parTrans" cxnId="{F569548F-F683-4B00-A8A9-12CA9B2045FC}">
      <dgm:prSet/>
      <dgm:spPr/>
      <dgm:t>
        <a:bodyPr/>
        <a:lstStyle/>
        <a:p>
          <a:endParaRPr lang="en-US"/>
        </a:p>
      </dgm:t>
    </dgm:pt>
    <dgm:pt modelId="{51B760A1-772D-4A32-9A09-7BFA6C8D6181}" type="sibTrans" cxnId="{F569548F-F683-4B00-A8A9-12CA9B2045FC}">
      <dgm:prSet/>
      <dgm:spPr/>
      <dgm:t>
        <a:bodyPr/>
        <a:lstStyle/>
        <a:p>
          <a:endParaRPr lang="en-US"/>
        </a:p>
      </dgm:t>
    </dgm:pt>
    <dgm:pt modelId="{1B34122B-D71E-3342-B6AA-A26C6502739C}" type="pres">
      <dgm:prSet presAssocID="{C1F1106E-553D-4A8F-9EE8-704A700A8A51}" presName="linear" presStyleCnt="0">
        <dgm:presLayoutVars>
          <dgm:animLvl val="lvl"/>
          <dgm:resizeHandles val="exact"/>
        </dgm:presLayoutVars>
      </dgm:prSet>
      <dgm:spPr/>
    </dgm:pt>
    <dgm:pt modelId="{B002964E-59D2-904D-B2EB-6CA43C41C7B7}" type="pres">
      <dgm:prSet presAssocID="{84865093-A494-4FFB-B65E-FAC4911C349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966DB22-C5CD-E945-BF01-93CBDA45BB9C}" type="pres">
      <dgm:prSet presAssocID="{84865093-A494-4FFB-B65E-FAC4911C349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22C9E19-9032-DE48-BE26-1CEACC78AACD}" type="presOf" srcId="{00521385-1C34-44C8-AE7E-28F1837D08E3}" destId="{9966DB22-C5CD-E945-BF01-93CBDA45BB9C}" srcOrd="0" destOrd="1" presId="urn:microsoft.com/office/officeart/2005/8/layout/vList2"/>
    <dgm:cxn modelId="{EB4AFE5B-3225-5844-B2D2-E6C916BA2FA3}" type="presOf" srcId="{63A02861-0B1A-4DAE-A4F4-D2A02F304474}" destId="{9966DB22-C5CD-E945-BF01-93CBDA45BB9C}" srcOrd="0" destOrd="2" presId="urn:microsoft.com/office/officeart/2005/8/layout/vList2"/>
    <dgm:cxn modelId="{A4EDC567-E114-D143-9577-CEC7D3F88549}" type="presOf" srcId="{0EFA87C4-942E-4136-AF6E-8FB578D1E261}" destId="{9966DB22-C5CD-E945-BF01-93CBDA45BB9C}" srcOrd="0" destOrd="3" presId="urn:microsoft.com/office/officeart/2005/8/layout/vList2"/>
    <dgm:cxn modelId="{586CD17D-A3BB-4EAE-963E-88DE239B8355}" srcId="{84865093-A494-4FFB-B65E-FAC4911C3492}" destId="{63A02861-0B1A-4DAE-A4F4-D2A02F304474}" srcOrd="2" destOrd="0" parTransId="{30CA4C1D-F6CD-482F-8B33-4A256841E190}" sibTransId="{E8A7288A-5302-4252-850A-CADA071C9665}"/>
    <dgm:cxn modelId="{F569548F-F683-4B00-A8A9-12CA9B2045FC}" srcId="{84865093-A494-4FFB-B65E-FAC4911C3492}" destId="{0EFA87C4-942E-4136-AF6E-8FB578D1E261}" srcOrd="3" destOrd="0" parTransId="{4E9C5F2B-968C-4032-A3AA-4F46617B2F57}" sibTransId="{51B760A1-772D-4A32-9A09-7BFA6C8D6181}"/>
    <dgm:cxn modelId="{FD2883A3-3D81-E649-811F-099E91948321}" type="presOf" srcId="{C1F1106E-553D-4A8F-9EE8-704A700A8A51}" destId="{1B34122B-D71E-3342-B6AA-A26C6502739C}" srcOrd="0" destOrd="0" presId="urn:microsoft.com/office/officeart/2005/8/layout/vList2"/>
    <dgm:cxn modelId="{6B1932AD-5DA1-47FE-99CC-DB27E05F64AD}" srcId="{C1F1106E-553D-4A8F-9EE8-704A700A8A51}" destId="{84865093-A494-4FFB-B65E-FAC4911C3492}" srcOrd="0" destOrd="0" parTransId="{3ABB9427-DFEE-4536-837B-22F407724E1A}" sibTransId="{231BF31A-95C9-4623-B90E-25CEA9C4D488}"/>
    <dgm:cxn modelId="{CB186AB5-65D4-493B-8216-9F5238108D13}" srcId="{84865093-A494-4FFB-B65E-FAC4911C3492}" destId="{5B007831-AD9B-4C81-A79F-8F4FD3CA39D5}" srcOrd="0" destOrd="0" parTransId="{33E6EFB1-0E20-4C15-83DC-32687ABAAC89}" sibTransId="{8C3701C3-B28F-49DB-A406-D47339EDE804}"/>
    <dgm:cxn modelId="{AB5627B6-DF90-4140-9B67-43D8A98E526A}" type="presOf" srcId="{5B007831-AD9B-4C81-A79F-8F4FD3CA39D5}" destId="{9966DB22-C5CD-E945-BF01-93CBDA45BB9C}" srcOrd="0" destOrd="0" presId="urn:microsoft.com/office/officeart/2005/8/layout/vList2"/>
    <dgm:cxn modelId="{7A35D2BA-8702-45D9-97AC-7449AB8E57AF}" srcId="{84865093-A494-4FFB-B65E-FAC4911C3492}" destId="{00521385-1C34-44C8-AE7E-28F1837D08E3}" srcOrd="1" destOrd="0" parTransId="{DA1D1CE0-F823-49AF-B73E-44D778789F14}" sibTransId="{7B61D681-3A95-4967-85B0-E286008266FD}"/>
    <dgm:cxn modelId="{B8E864CF-0FAE-EE48-93E5-B85232BDF88C}" type="presOf" srcId="{84865093-A494-4FFB-B65E-FAC4911C3492}" destId="{B002964E-59D2-904D-B2EB-6CA43C41C7B7}" srcOrd="0" destOrd="0" presId="urn:microsoft.com/office/officeart/2005/8/layout/vList2"/>
    <dgm:cxn modelId="{324C2176-9C51-5947-88F4-6982F9F1A3AD}" type="presParOf" srcId="{1B34122B-D71E-3342-B6AA-A26C6502739C}" destId="{B002964E-59D2-904D-B2EB-6CA43C41C7B7}" srcOrd="0" destOrd="0" presId="urn:microsoft.com/office/officeart/2005/8/layout/vList2"/>
    <dgm:cxn modelId="{59D41742-373F-DC4B-807F-132E4D1809F5}" type="presParOf" srcId="{1B34122B-D71E-3342-B6AA-A26C6502739C}" destId="{9966DB22-C5CD-E945-BF01-93CBDA45BB9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E1B72-ECB0-D341-A3D9-F61F58E2BBE3}">
      <dsp:nvSpPr>
        <dsp:cNvPr id="0" name=""/>
        <dsp:cNvSpPr/>
      </dsp:nvSpPr>
      <dsp:spPr>
        <a:xfrm>
          <a:off x="0" y="85896"/>
          <a:ext cx="102412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</a:t>
          </a:r>
          <a:r>
            <a:rPr lang="en-ID" sz="1800" kern="1200"/>
            <a:t>Sebuah </a:t>
          </a:r>
          <a:r>
            <a:rPr lang="en-ID" sz="1800" b="1" kern="1200"/>
            <a:t>kantin kampus</a:t>
          </a:r>
          <a:r>
            <a:rPr lang="en-ID" sz="1800" kern="1200"/>
            <a:t> menjual </a:t>
          </a:r>
          <a:r>
            <a:rPr lang="en-ID" sz="1800" b="1" kern="1200"/>
            <a:t>120 porsi makanan per hari</a:t>
          </a:r>
          <a:r>
            <a:rPr lang="en-ID" sz="1800" kern="1200"/>
            <a:t>.</a:t>
          </a:r>
          <a:br>
            <a:rPr lang="en-ID" sz="1800" kern="1200"/>
          </a:br>
          <a:r>
            <a:rPr lang="en-ID" sz="1800" kern="1200"/>
            <a:t>Setiap hari jumlah pembeli </a:t>
          </a:r>
          <a:r>
            <a:rPr lang="en-ID" sz="1800" b="1" kern="1200"/>
            <a:t>bertambah 10%</a:t>
          </a:r>
          <a:r>
            <a:rPr lang="en-ID" sz="1800" kern="1200"/>
            <a:t> dari hari sebelumnya.</a:t>
          </a:r>
          <a:endParaRPr lang="en-US" sz="1800" kern="1200"/>
        </a:p>
      </dsp:txBody>
      <dsp:txXfrm>
        <a:off x="34954" y="120850"/>
        <a:ext cx="10171372" cy="646132"/>
      </dsp:txXfrm>
    </dsp:sp>
    <dsp:sp modelId="{25010B10-108A-3D43-B576-F596F765D292}">
      <dsp:nvSpPr>
        <dsp:cNvPr id="0" name=""/>
        <dsp:cNvSpPr/>
      </dsp:nvSpPr>
      <dsp:spPr>
        <a:xfrm>
          <a:off x="0" y="853776"/>
          <a:ext cx="102412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Pertanyaan:</a:t>
          </a:r>
          <a:endParaRPr lang="en-US" sz="1800" kern="1200"/>
        </a:p>
      </dsp:txBody>
      <dsp:txXfrm>
        <a:off x="34954" y="888730"/>
        <a:ext cx="10171372" cy="646132"/>
      </dsp:txXfrm>
    </dsp:sp>
    <dsp:sp modelId="{93A071A6-673C-014D-922F-21644B2AEDE1}">
      <dsp:nvSpPr>
        <dsp:cNvPr id="0" name=""/>
        <dsp:cNvSpPr/>
      </dsp:nvSpPr>
      <dsp:spPr>
        <a:xfrm>
          <a:off x="0" y="1621656"/>
          <a:ext cx="102412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1 Berapa jumlah pembeli setelah </a:t>
          </a:r>
          <a:r>
            <a:rPr lang="en-ID" sz="1800" b="1" kern="1200"/>
            <a:t>7 hari</a:t>
          </a:r>
          <a:r>
            <a:rPr lang="en-ID" sz="1800" kern="1200"/>
            <a:t>? </a:t>
          </a:r>
          <a:endParaRPr lang="en-US" sz="1800" kern="1200"/>
        </a:p>
      </dsp:txBody>
      <dsp:txXfrm>
        <a:off x="34954" y="1656610"/>
        <a:ext cx="10171372" cy="646132"/>
      </dsp:txXfrm>
    </dsp:sp>
    <dsp:sp modelId="{F8BC08B9-A29E-914A-B637-6404440CD133}">
      <dsp:nvSpPr>
        <dsp:cNvPr id="0" name=""/>
        <dsp:cNvSpPr/>
      </dsp:nvSpPr>
      <dsp:spPr>
        <a:xfrm>
          <a:off x="0" y="2389536"/>
          <a:ext cx="102412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2. Jika pertumbuhan hanya </a:t>
          </a:r>
          <a:r>
            <a:rPr lang="en-ID" sz="1800" b="1" kern="1200"/>
            <a:t>5%</a:t>
          </a:r>
          <a:r>
            <a:rPr lang="en-ID" sz="1800" kern="1200"/>
            <a:t>, bagaimana hasilnya?</a:t>
          </a:r>
          <a:endParaRPr lang="en-US" sz="1800" kern="1200"/>
        </a:p>
      </dsp:txBody>
      <dsp:txXfrm>
        <a:off x="34954" y="2424490"/>
        <a:ext cx="10171372" cy="646132"/>
      </dsp:txXfrm>
    </dsp:sp>
    <dsp:sp modelId="{102AAAB7-84BC-7C45-B25C-E285864F59AE}">
      <dsp:nvSpPr>
        <dsp:cNvPr id="0" name=""/>
        <dsp:cNvSpPr/>
      </dsp:nvSpPr>
      <dsp:spPr>
        <a:xfrm>
          <a:off x="0" y="3157415"/>
          <a:ext cx="1024128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3. Buat grafik  pertumbuhan pembeli selama </a:t>
          </a:r>
          <a:r>
            <a:rPr lang="en-ID" sz="1800" b="1" kern="1200"/>
            <a:t>10 hari</a:t>
          </a:r>
          <a:r>
            <a:rPr lang="en-ID" sz="1800" kern="1200"/>
            <a:t>.</a:t>
          </a:r>
          <a:endParaRPr lang="en-US" sz="1800" kern="1200"/>
        </a:p>
      </dsp:txBody>
      <dsp:txXfrm>
        <a:off x="34954" y="3192369"/>
        <a:ext cx="10171372" cy="646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2964E-59D2-904D-B2EB-6CA43C41C7B7}">
      <dsp:nvSpPr>
        <dsp:cNvPr id="0" name=""/>
        <dsp:cNvSpPr/>
      </dsp:nvSpPr>
      <dsp:spPr>
        <a:xfrm>
          <a:off x="0" y="164745"/>
          <a:ext cx="7240146" cy="3393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3. </a:t>
          </a:r>
          <a:r>
            <a:rPr lang="en-ID" sz="2900" kern="1200"/>
            <a:t>Sebuah </a:t>
          </a:r>
          <a:r>
            <a:rPr lang="en-ID" sz="2900" b="1" kern="1200"/>
            <a:t>puskesmas di Pulau Lombok</a:t>
          </a:r>
          <a:r>
            <a:rPr lang="en-ID" sz="2900" kern="1200"/>
            <a:t> melaporkan bahwa pada awal tahun terdapat </a:t>
          </a:r>
          <a:r>
            <a:rPr lang="en-ID" sz="2900" b="1" kern="1200"/>
            <a:t>50 kasus Tuberkulosis (TB)</a:t>
          </a:r>
          <a:r>
            <a:rPr lang="en-ID" sz="2900" kern="1200"/>
            <a:t> yang terdeteksi. Berdasarkan data beberapa bulan sebelumnya, jumlah kasus TB </a:t>
          </a:r>
          <a:r>
            <a:rPr lang="en-ID" sz="2900" b="1" kern="1200"/>
            <a:t>meningkat sekitar 8% setiap bulan</a:t>
          </a:r>
          <a:r>
            <a:rPr lang="en-ID" sz="2900" kern="1200"/>
            <a:t> karena faktor:</a:t>
          </a:r>
          <a:endParaRPr lang="en-US" sz="2900" kern="1200"/>
        </a:p>
      </dsp:txBody>
      <dsp:txXfrm>
        <a:off x="165633" y="330378"/>
        <a:ext cx="6908880" cy="3061734"/>
      </dsp:txXfrm>
    </dsp:sp>
    <dsp:sp modelId="{9966DB22-C5CD-E945-BF01-93CBDA45BB9C}">
      <dsp:nvSpPr>
        <dsp:cNvPr id="0" name=""/>
        <dsp:cNvSpPr/>
      </dsp:nvSpPr>
      <dsp:spPr>
        <a:xfrm>
          <a:off x="0" y="3557745"/>
          <a:ext cx="7240146" cy="222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875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300" kern="1200"/>
            <a:t>keterlambatan diagnosis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300" kern="1200"/>
            <a:t>kepadatan penduduk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300" kern="1200"/>
            <a:t>kurangnya kepatuhan minum obat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2300" kern="1200"/>
            <a:t>Dinas kesehatan ingin </a:t>
          </a:r>
          <a:r>
            <a:rPr lang="en-ID" sz="2300" b="1" kern="1200"/>
            <a:t>memprediksi jumlah kasus TB dalam beberapa bulan ke depan</a:t>
          </a:r>
          <a:r>
            <a:rPr lang="en-ID" sz="2300" kern="1200"/>
            <a:t> untuk menentukan strategi penanganan.</a:t>
          </a:r>
          <a:endParaRPr lang="en-US" sz="2300" kern="1200"/>
        </a:p>
      </dsp:txBody>
      <dsp:txXfrm>
        <a:off x="0" y="3557745"/>
        <a:ext cx="7240146" cy="2221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75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5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4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1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5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3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4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9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59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0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Wednesday, March 25,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97586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3F794D0-2982-490E-88DA-93D489750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urple and white sky&#10;&#10;Description automatically generated">
            <a:extLst>
              <a:ext uri="{FF2B5EF4-FFF2-40B4-BE49-F238E27FC236}">
                <a16:creationId xmlns:a16="http://schemas.microsoft.com/office/drawing/2014/main" id="{8C86BA56-057D-2BB9-4C89-F79423929C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61" b="48050"/>
          <a:stretch>
            <a:fillRect/>
          </a:stretch>
        </p:blipFill>
        <p:spPr>
          <a:xfrm>
            <a:off x="-2" y="10"/>
            <a:ext cx="12192002" cy="44610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FD24A3D-F07A-44A9-BE55-5576292E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460827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2">
            <a:extLst>
              <a:ext uri="{FF2B5EF4-FFF2-40B4-BE49-F238E27FC236}">
                <a16:creationId xmlns:a16="http://schemas.microsoft.com/office/drawing/2014/main" id="{204441C9-FD2D-4031-B5C5-67478196C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038600" y="4463553"/>
            <a:ext cx="8153401" cy="239444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1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F09AEC-6E6E-418F-9974-8730F1B2B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2944145" y="2710934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Rectangle 16">
            <a:extLst>
              <a:ext uri="{FF2B5EF4-FFF2-40B4-BE49-F238E27FC236}">
                <a16:creationId xmlns:a16="http://schemas.microsoft.com/office/drawing/2014/main" id="{3D9D3989-3E00-4727-914E-959DFE8FA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6701" y="4460827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E91DD-7DC4-29FB-716D-291284480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807" y="4611271"/>
            <a:ext cx="9436593" cy="1171556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chemeClr val="bg1"/>
                </a:solidFill>
              </a:rPr>
              <a:t>latihan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3F948-13A3-0A66-A93C-5B47E33BF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1" y="5970897"/>
            <a:ext cx="9448800" cy="429904"/>
          </a:xfrm>
        </p:spPr>
        <p:txBody>
          <a:bodyPr>
            <a:normAutofit/>
          </a:bodyPr>
          <a:lstStyle/>
          <a:p>
            <a:pPr algn="l"/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51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06C6-B3D6-9558-7708-A70B2604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persedian</a:t>
            </a:r>
            <a:r>
              <a:rPr lang="en-US" dirty="0"/>
              <a:t> </a:t>
            </a:r>
            <a:r>
              <a:rPr lang="en-US" dirty="0" err="1"/>
              <a:t>barang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1C10A-14A6-5A28-08B4-68DBE52B5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1. </a:t>
            </a:r>
            <a:r>
              <a:rPr lang="en-ID" dirty="0" err="1"/>
              <a:t>Sebuah</a:t>
            </a:r>
            <a:r>
              <a:rPr lang="en-ID" dirty="0"/>
              <a:t> toko </a:t>
            </a:r>
            <a:r>
              <a:rPr lang="en-ID" dirty="0" err="1"/>
              <a:t>komputer</a:t>
            </a:r>
            <a:r>
              <a:rPr lang="en-ID" dirty="0"/>
              <a:t>  </a:t>
            </a:r>
            <a:r>
              <a:rPr lang="en-ID" dirty="0" err="1"/>
              <a:t>memiliki</a:t>
            </a:r>
            <a:r>
              <a:rPr lang="en-ID" dirty="0"/>
              <a:t> Stok </a:t>
            </a:r>
            <a:r>
              <a:rPr lang="en-ID" dirty="0" err="1"/>
              <a:t>awal</a:t>
            </a:r>
            <a:r>
              <a:rPr lang="en-ID" dirty="0"/>
              <a:t> = 200 unit, </a:t>
            </a:r>
            <a:r>
              <a:rPr lang="en-ID" dirty="0" err="1"/>
              <a:t>Penjualan</a:t>
            </a:r>
            <a:r>
              <a:rPr lang="en-ID" dirty="0"/>
              <a:t> per </a:t>
            </a:r>
            <a:r>
              <a:rPr lang="en-ID" dirty="0" err="1"/>
              <a:t>hari</a:t>
            </a:r>
            <a:r>
              <a:rPr lang="en-ID" dirty="0"/>
              <a:t> = 15 unit. </a:t>
            </a:r>
            <a:r>
              <a:rPr lang="en-ID" dirty="0" err="1"/>
              <a:t>Berapa</a:t>
            </a:r>
            <a:r>
              <a:rPr lang="en-ID" dirty="0"/>
              <a:t>  </a:t>
            </a:r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stok</a:t>
            </a:r>
            <a:r>
              <a:rPr lang="en-ID" dirty="0"/>
              <a:t> </a:t>
            </a:r>
            <a:r>
              <a:rPr lang="en-ID" dirty="0" err="1"/>
              <a:t>setalh</a:t>
            </a:r>
            <a:r>
              <a:rPr lang="en-ID" dirty="0"/>
              <a:t> 6 </a:t>
            </a:r>
            <a:r>
              <a:rPr lang="en-ID" dirty="0" err="1"/>
              <a:t>hari</a:t>
            </a:r>
            <a:r>
              <a:rPr lang="en-ID" dirty="0"/>
              <a:t> ?</a:t>
            </a:r>
          </a:p>
          <a:p>
            <a:r>
              <a:rPr lang="en-ID" b="1" dirty="0">
                <a:highlight>
                  <a:srgbClr val="FFFF00"/>
                </a:highlight>
              </a:rPr>
              <a:t>Model </a:t>
            </a:r>
            <a:r>
              <a:rPr lang="en-ID" b="1" dirty="0" err="1">
                <a:highlight>
                  <a:srgbClr val="FFFF00"/>
                </a:highlight>
              </a:rPr>
              <a:t>matematika</a:t>
            </a:r>
            <a:r>
              <a:rPr lang="en-ID" dirty="0">
                <a:highlight>
                  <a:srgbClr val="FFFF00"/>
                </a:highlight>
              </a:rPr>
              <a:t>:</a:t>
            </a:r>
            <a:r>
              <a:rPr lang="en-ID" b="1" dirty="0">
                <a:highlight>
                  <a:srgbClr val="FFFF00"/>
                </a:highlight>
              </a:rPr>
              <a:t>   S(t)=S0−pt</a:t>
            </a:r>
          </a:p>
          <a:p>
            <a:pPr marL="0" indent="0">
              <a:buNone/>
            </a:pPr>
            <a:r>
              <a:rPr lang="en-ID" dirty="0" err="1"/>
              <a:t>dimana</a:t>
            </a:r>
            <a:endParaRPr lang="en-ID" dirty="0"/>
          </a:p>
          <a:p>
            <a:pPr marL="635000" indent="0">
              <a:buNone/>
            </a:pPr>
            <a:r>
              <a:rPr lang="en-ID" dirty="0"/>
              <a:t>S(t) = </a:t>
            </a:r>
            <a:r>
              <a:rPr lang="en-ID" dirty="0" err="1"/>
              <a:t>stok</a:t>
            </a:r>
            <a:r>
              <a:rPr lang="en-ID" dirty="0"/>
              <a:t> pada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t</a:t>
            </a:r>
            <a:br>
              <a:rPr lang="en-ID" dirty="0"/>
            </a:br>
            <a:r>
              <a:rPr lang="en-ID" dirty="0"/>
              <a:t>S0 = </a:t>
            </a:r>
            <a:r>
              <a:rPr lang="en-ID" dirty="0" err="1"/>
              <a:t>stok</a:t>
            </a:r>
            <a:r>
              <a:rPr lang="en-ID" dirty="0"/>
              <a:t> </a:t>
            </a:r>
            <a:r>
              <a:rPr lang="en-ID" dirty="0" err="1"/>
              <a:t>awal</a:t>
            </a:r>
            <a:br>
              <a:rPr lang="en-ID" dirty="0"/>
            </a:br>
            <a:r>
              <a:rPr lang="en-ID" dirty="0"/>
              <a:t>p = </a:t>
            </a:r>
            <a:r>
              <a:rPr lang="en-ID" dirty="0" err="1"/>
              <a:t>penjualan</a:t>
            </a:r>
            <a:r>
              <a:rPr lang="en-ID" dirty="0"/>
              <a:t> per </a:t>
            </a:r>
            <a:r>
              <a:rPr lang="en-ID" dirty="0" err="1"/>
              <a:t>hari</a:t>
            </a:r>
            <a:br>
              <a:rPr lang="en-ID" dirty="0"/>
            </a:br>
            <a:r>
              <a:rPr lang="en-ID" dirty="0"/>
              <a:t>t = </a:t>
            </a:r>
            <a:r>
              <a:rPr lang="en-ID" dirty="0" err="1"/>
              <a:t>waktu</a:t>
            </a:r>
            <a:endParaRPr lang="en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408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CEA4-6C3D-5C8F-4B44-447156FBD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012C-4E53-BD0E-00A8-B0AC9AEC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dirty="0"/>
              <a:t>1. </a:t>
            </a:r>
            <a:r>
              <a:rPr lang="en-ID" dirty="0" err="1"/>
              <a:t>Diketahui</a:t>
            </a:r>
            <a:r>
              <a:rPr lang="en-ID" dirty="0"/>
              <a:t>:</a:t>
            </a:r>
          </a:p>
          <a:p>
            <a:r>
              <a:rPr lang="en-ID" dirty="0"/>
              <a:t>S0 = 200</a:t>
            </a:r>
            <a:br>
              <a:rPr lang="en-ID" dirty="0"/>
            </a:br>
            <a:r>
              <a:rPr lang="en-ID" dirty="0"/>
              <a:t>p = 15</a:t>
            </a:r>
            <a:br>
              <a:rPr lang="en-ID" dirty="0"/>
            </a:br>
            <a:r>
              <a:rPr lang="en-ID" dirty="0"/>
              <a:t>t = 6 </a:t>
            </a:r>
            <a:r>
              <a:rPr lang="en-ID" dirty="0" err="1"/>
              <a:t>hari</a:t>
            </a:r>
            <a:endParaRPr lang="en-ID" dirty="0"/>
          </a:p>
          <a:p>
            <a:r>
              <a:rPr lang="en-ID" dirty="0" err="1"/>
              <a:t>Maka</a:t>
            </a:r>
            <a:r>
              <a:rPr lang="en-ID" dirty="0"/>
              <a:t>:</a:t>
            </a:r>
          </a:p>
          <a:p>
            <a:pPr marL="0" indent="873125">
              <a:buNone/>
            </a:pPr>
            <a:r>
              <a:rPr lang="en-ID" dirty="0">
                <a:highlight>
                  <a:srgbClr val="FFFF00"/>
                </a:highlight>
              </a:rPr>
              <a:t>S(6)=200−(15×6)</a:t>
            </a:r>
          </a:p>
          <a:p>
            <a:pPr marL="0" indent="873125">
              <a:buNone/>
            </a:pPr>
            <a:r>
              <a:rPr lang="en-ID" dirty="0">
                <a:highlight>
                  <a:srgbClr val="FFFF00"/>
                </a:highlight>
              </a:rPr>
              <a:t>S(6) = 200−90</a:t>
            </a:r>
          </a:p>
          <a:p>
            <a:pPr marL="0" indent="873125">
              <a:buNone/>
            </a:pPr>
            <a:r>
              <a:rPr lang="en-ID" dirty="0">
                <a:highlight>
                  <a:srgbClr val="FFFF00"/>
                </a:highlight>
              </a:rPr>
              <a:t>S(6)=110</a:t>
            </a:r>
          </a:p>
          <a:p>
            <a:pPr marL="0" indent="0">
              <a:buNone/>
            </a:pPr>
            <a:r>
              <a:rPr lang="en-ID" dirty="0" err="1"/>
              <a:t>Artinya</a:t>
            </a:r>
            <a:r>
              <a:rPr lang="en-ID" dirty="0"/>
              <a:t>:</a:t>
            </a:r>
          </a:p>
          <a:p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b="1" dirty="0"/>
              <a:t>6 </a:t>
            </a:r>
            <a:r>
              <a:rPr lang="en-ID" b="1" dirty="0" err="1"/>
              <a:t>hari</a:t>
            </a:r>
            <a:r>
              <a:rPr lang="en-ID" b="1" dirty="0"/>
              <a:t> </a:t>
            </a:r>
            <a:r>
              <a:rPr lang="en-ID" b="1" dirty="0" err="1"/>
              <a:t>stok</a:t>
            </a:r>
            <a:r>
              <a:rPr lang="en-ID" b="1" dirty="0"/>
              <a:t> </a:t>
            </a:r>
            <a:r>
              <a:rPr lang="en-ID" b="1" dirty="0" err="1"/>
              <a:t>tersisa</a:t>
            </a:r>
            <a:r>
              <a:rPr lang="en-ID" b="1" dirty="0"/>
              <a:t> 110 unit</a:t>
            </a:r>
            <a:endParaRPr lang="en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25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0E7C-0E24-F53B-D09D-732563354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5970F4-DD90-3EB1-4A0D-C8085B38C7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112264"/>
          <a:ext cx="10241280" cy="3959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555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31283-695D-A367-D42C-3B2206C2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vert="horz" lIns="0" tIns="0" rIns="0" bIns="0" rtlCol="0" anchor="b">
            <a:normAutofit/>
          </a:bodyPr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DAB3729-50AC-05BF-1433-AEAD00236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1" y="2345635"/>
            <a:ext cx="4911392" cy="35839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Perbandingan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Model Linear vs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Eksponensial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Contoh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Linear: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setiap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hari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bertambah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10 orang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Eksponensial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setiap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hari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bertambah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10%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5160B2B-FFB4-13A0-ACED-EB6CD3E814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965095"/>
              </p:ext>
            </p:extLst>
          </p:nvPr>
        </p:nvGraphicFramePr>
        <p:xfrm>
          <a:off x="6644639" y="2454865"/>
          <a:ext cx="5090163" cy="147704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408236">
                  <a:extLst>
                    <a:ext uri="{9D8B030D-6E8A-4147-A177-3AD203B41FA5}">
                      <a16:colId xmlns:a16="http://schemas.microsoft.com/office/drawing/2014/main" val="721263729"/>
                    </a:ext>
                  </a:extLst>
                </a:gridCol>
                <a:gridCol w="2284376">
                  <a:extLst>
                    <a:ext uri="{9D8B030D-6E8A-4147-A177-3AD203B41FA5}">
                      <a16:colId xmlns:a16="http://schemas.microsoft.com/office/drawing/2014/main" val="2411612190"/>
                    </a:ext>
                  </a:extLst>
                </a:gridCol>
                <a:gridCol w="1397551">
                  <a:extLst>
                    <a:ext uri="{9D8B030D-6E8A-4147-A177-3AD203B41FA5}">
                      <a16:colId xmlns:a16="http://schemas.microsoft.com/office/drawing/2014/main" val="2822687654"/>
                    </a:ext>
                  </a:extLst>
                </a:gridCol>
              </a:tblGrid>
              <a:tr h="338490">
                <a:tc>
                  <a:txBody>
                    <a:bodyPr/>
                    <a:lstStyle/>
                    <a:p>
                      <a:r>
                        <a:rPr lang="en-ID" sz="1500" b="1" dirty="0"/>
                        <a:t>Model</a:t>
                      </a:r>
                    </a:p>
                  </a:txBody>
                  <a:tcPr marL="76929" marR="76929" marT="38465" marB="38465" anchor="ctr"/>
                </a:tc>
                <a:tc>
                  <a:txBody>
                    <a:bodyPr/>
                    <a:lstStyle/>
                    <a:p>
                      <a:r>
                        <a:rPr lang="en-ID" sz="1500" b="1" dirty="0" err="1"/>
                        <a:t>Persamaan</a:t>
                      </a:r>
                      <a:endParaRPr lang="en-ID" sz="1500" b="1" dirty="0"/>
                    </a:p>
                  </a:txBody>
                  <a:tcPr marL="76929" marR="76929" marT="38465" marB="38465" anchor="ctr"/>
                </a:tc>
                <a:tc>
                  <a:txBody>
                    <a:bodyPr/>
                    <a:lstStyle/>
                    <a:p>
                      <a:r>
                        <a:rPr lang="en-ID" sz="1500" b="1" dirty="0" err="1"/>
                        <a:t>Ciri</a:t>
                      </a:r>
                      <a:endParaRPr lang="en-ID" sz="1500" b="1" dirty="0"/>
                    </a:p>
                  </a:txBody>
                  <a:tcPr marL="76929" marR="76929" marT="38465" marB="38465" anchor="ctr"/>
                </a:tc>
                <a:extLst>
                  <a:ext uri="{0D108BD9-81ED-4DB2-BD59-A6C34878D82A}">
                    <a16:rowId xmlns:a16="http://schemas.microsoft.com/office/drawing/2014/main" val="2903870936"/>
                  </a:ext>
                </a:extLst>
              </a:tr>
              <a:tr h="569278">
                <a:tc>
                  <a:txBody>
                    <a:bodyPr/>
                    <a:lstStyle/>
                    <a:p>
                      <a:r>
                        <a:rPr lang="en-ID" sz="1500"/>
                        <a:t>Linear</a:t>
                      </a:r>
                    </a:p>
                  </a:txBody>
                  <a:tcPr marL="76929" marR="76929" marT="38465" marB="38465" anchor="ctr"/>
                </a:tc>
                <a:tc>
                  <a:txBody>
                    <a:bodyPr/>
                    <a:lstStyle/>
                    <a:p>
                      <a:r>
                        <a:rPr lang="en-ID" sz="1500" dirty="0"/>
                        <a:t>P(t)=P0+rt</a:t>
                      </a:r>
                    </a:p>
                  </a:txBody>
                  <a:tcPr marL="76929" marR="76929" marT="38465" marB="38465" anchor="ctr"/>
                </a:tc>
                <a:tc>
                  <a:txBody>
                    <a:bodyPr/>
                    <a:lstStyle/>
                    <a:p>
                      <a:r>
                        <a:rPr lang="en-ID" sz="1500"/>
                        <a:t>pertambahan tetap</a:t>
                      </a:r>
                    </a:p>
                  </a:txBody>
                  <a:tcPr marL="76929" marR="76929" marT="38465" marB="38465" anchor="ctr"/>
                </a:tc>
                <a:extLst>
                  <a:ext uri="{0D108BD9-81ED-4DB2-BD59-A6C34878D82A}">
                    <a16:rowId xmlns:a16="http://schemas.microsoft.com/office/drawing/2014/main" val="1983075752"/>
                  </a:ext>
                </a:extLst>
              </a:tr>
              <a:tr h="569278">
                <a:tc>
                  <a:txBody>
                    <a:bodyPr/>
                    <a:lstStyle/>
                    <a:p>
                      <a:r>
                        <a:rPr lang="en-ID" sz="1500"/>
                        <a:t>Eksponensial</a:t>
                      </a:r>
                    </a:p>
                  </a:txBody>
                  <a:tcPr marL="76929" marR="76929" marT="38465" marB="38465" anchor="ctr"/>
                </a:tc>
                <a:tc>
                  <a:txBody>
                    <a:bodyPr/>
                    <a:lstStyle/>
                    <a:p>
                      <a:r>
                        <a:rPr lang="en-ID" sz="1500" dirty="0"/>
                        <a:t>P(t)=P0(1+r)</a:t>
                      </a:r>
                      <a:r>
                        <a:rPr lang="en-ID" sz="1500" baseline="30000" dirty="0"/>
                        <a:t>t</a:t>
                      </a:r>
                    </a:p>
                  </a:txBody>
                  <a:tcPr marL="76929" marR="76929" marT="38465" marB="38465" anchor="ctr"/>
                </a:tc>
                <a:tc>
                  <a:txBody>
                    <a:bodyPr/>
                    <a:lstStyle/>
                    <a:p>
                      <a:r>
                        <a:rPr lang="en-ID" sz="1500" dirty="0" err="1"/>
                        <a:t>pertumbuhan</a:t>
                      </a:r>
                      <a:r>
                        <a:rPr lang="en-ID" sz="1500" dirty="0"/>
                        <a:t> </a:t>
                      </a:r>
                      <a:r>
                        <a:rPr lang="en-ID" sz="1500" dirty="0" err="1"/>
                        <a:t>persen</a:t>
                      </a:r>
                      <a:endParaRPr lang="en-ID" sz="1500" dirty="0"/>
                    </a:p>
                  </a:txBody>
                  <a:tcPr marL="76929" marR="76929" marT="38465" marB="38465" anchor="ctr"/>
                </a:tc>
                <a:extLst>
                  <a:ext uri="{0D108BD9-81ED-4DB2-BD59-A6C34878D82A}">
                    <a16:rowId xmlns:a16="http://schemas.microsoft.com/office/drawing/2014/main" val="868188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20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BF3C-6D94-3994-FC28-E4B6034E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EB2A9-C43B-B232-A3C5-4AF76D7DD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2.  </a:t>
            </a:r>
            <a:r>
              <a:rPr lang="en-US" dirty="0" err="1"/>
              <a:t>Jawaban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ID" b="1" dirty="0"/>
              <a:t>a. </a:t>
            </a:r>
            <a:r>
              <a:rPr lang="en-ID" b="1" dirty="0" err="1"/>
              <a:t>Menentukan</a:t>
            </a:r>
            <a:r>
              <a:rPr lang="en-ID" b="1" dirty="0"/>
              <a:t> Model </a:t>
            </a:r>
            <a:r>
              <a:rPr lang="en-ID" b="1" dirty="0" err="1"/>
              <a:t>Matematika</a:t>
            </a:r>
            <a:endParaRPr lang="en-ID" b="1" dirty="0"/>
          </a:p>
          <a:p>
            <a:pPr marL="0" indent="0">
              <a:buNone/>
            </a:pPr>
            <a:r>
              <a:rPr lang="en-ID" dirty="0"/>
              <a:t>Karena </a:t>
            </a:r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b="1" dirty="0" err="1"/>
              <a:t>bertambah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persentase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model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/>
              <a:t>model </a:t>
            </a:r>
            <a:r>
              <a:rPr lang="en-ID" b="1" dirty="0" err="1"/>
              <a:t>pertumbuhan</a:t>
            </a:r>
            <a:r>
              <a:rPr lang="en-ID" b="1" dirty="0"/>
              <a:t> </a:t>
            </a:r>
            <a:r>
              <a:rPr lang="en-ID" b="1" dirty="0" err="1"/>
              <a:t>eksponensial</a:t>
            </a:r>
            <a:r>
              <a:rPr lang="en-ID" dirty="0"/>
              <a:t>.</a:t>
            </a:r>
          </a:p>
          <a:p>
            <a:r>
              <a:rPr lang="en-ID" dirty="0">
                <a:highlight>
                  <a:srgbClr val="FFFF00"/>
                </a:highlight>
              </a:rPr>
              <a:t>Model  </a:t>
            </a:r>
            <a:r>
              <a:rPr lang="en-ID" dirty="0" err="1">
                <a:highlight>
                  <a:srgbClr val="FFFF00"/>
                </a:highlight>
              </a:rPr>
              <a:t>matematika</a:t>
            </a:r>
            <a:r>
              <a:rPr lang="en-ID" dirty="0">
                <a:highlight>
                  <a:srgbClr val="FFFF00"/>
                </a:highlight>
              </a:rPr>
              <a:t> : P(t)=P0(1+r)</a:t>
            </a:r>
            <a:r>
              <a:rPr lang="en-ID" baseline="30000" dirty="0">
                <a:highlight>
                  <a:srgbClr val="FFFF00"/>
                </a:highlight>
              </a:rPr>
              <a:t>t</a:t>
            </a:r>
          </a:p>
          <a:p>
            <a:r>
              <a:rPr lang="en-ID" dirty="0"/>
              <a:t>Dimana:</a:t>
            </a:r>
          </a:p>
          <a:p>
            <a:pPr marL="676275" indent="0">
              <a:buNone/>
            </a:pPr>
            <a:r>
              <a:rPr lang="en-ID" dirty="0"/>
              <a:t>P(t) =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pembeli</a:t>
            </a:r>
            <a:r>
              <a:rPr lang="en-ID" dirty="0"/>
              <a:t> pada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-t</a:t>
            </a:r>
            <a:br>
              <a:rPr lang="en-ID" dirty="0"/>
            </a:br>
            <a:r>
              <a:rPr lang="en-ID" dirty="0"/>
              <a:t>P0 =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pembeli</a:t>
            </a:r>
            <a:r>
              <a:rPr lang="en-ID" dirty="0"/>
              <a:t> </a:t>
            </a:r>
            <a:r>
              <a:rPr lang="en-ID" dirty="0" err="1"/>
              <a:t>awal</a:t>
            </a:r>
            <a:br>
              <a:rPr lang="en-ID" dirty="0"/>
            </a:br>
            <a:r>
              <a:rPr lang="en-ID" dirty="0"/>
              <a:t>r =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pertumbuhan</a:t>
            </a:r>
            <a:br>
              <a:rPr lang="en-ID" dirty="0"/>
            </a:br>
            <a:r>
              <a:rPr lang="en-ID" dirty="0"/>
              <a:t>t = </a:t>
            </a:r>
            <a:r>
              <a:rPr lang="en-ID" dirty="0" err="1"/>
              <a:t>waktu</a:t>
            </a:r>
            <a:r>
              <a:rPr lang="en-ID" dirty="0"/>
              <a:t> (</a:t>
            </a:r>
            <a:r>
              <a:rPr lang="en-ID" dirty="0" err="1"/>
              <a:t>hari</a:t>
            </a:r>
            <a:r>
              <a:rPr lang="en-ID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50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0584-32A1-56F9-FD24-99710717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70617-E87D-34E7-681E-B0A34975C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b. </a:t>
            </a:r>
            <a:r>
              <a:rPr lang="en-ID" b="1" dirty="0" err="1"/>
              <a:t>Menentukan</a:t>
            </a:r>
            <a:r>
              <a:rPr lang="en-ID" b="1" dirty="0"/>
              <a:t> Nilai </a:t>
            </a:r>
            <a:r>
              <a:rPr lang="en-ID" b="1" dirty="0" err="1"/>
              <a:t>Variabel</a:t>
            </a:r>
            <a:endParaRPr lang="en-ID" b="1" dirty="0"/>
          </a:p>
          <a:p>
            <a:r>
              <a:rPr lang="en-ID" dirty="0" err="1"/>
              <a:t>Diketahui</a:t>
            </a:r>
            <a:r>
              <a:rPr lang="en-ID" dirty="0"/>
              <a:t>:</a:t>
            </a:r>
          </a:p>
          <a:p>
            <a:pPr marL="873125" indent="39688">
              <a:buNone/>
            </a:pPr>
            <a:r>
              <a:rPr lang="en-ID" dirty="0"/>
              <a:t>P0 = 120</a:t>
            </a:r>
            <a:br>
              <a:rPr lang="en-ID" dirty="0"/>
            </a:br>
            <a:r>
              <a:rPr lang="en-ID" dirty="0"/>
              <a:t>r = 10% = 0.10</a:t>
            </a:r>
            <a:br>
              <a:rPr lang="en-ID" dirty="0"/>
            </a:br>
            <a:r>
              <a:rPr lang="en-ID" dirty="0"/>
              <a:t>t = 7 </a:t>
            </a:r>
            <a:r>
              <a:rPr lang="en-ID" dirty="0" err="1"/>
              <a:t>hari</a:t>
            </a:r>
            <a:endParaRPr lang="en-ID" dirty="0"/>
          </a:p>
          <a:p>
            <a:pPr marL="0" indent="0">
              <a:buNone/>
            </a:pPr>
            <a:r>
              <a:rPr lang="en-ID" b="1" dirty="0"/>
              <a:t>c.  </a:t>
            </a:r>
            <a:r>
              <a:rPr lang="en-ID" b="1" dirty="0" err="1"/>
              <a:t>Substitusi</a:t>
            </a:r>
            <a:r>
              <a:rPr lang="en-ID" b="1" dirty="0"/>
              <a:t> </a:t>
            </a:r>
            <a:r>
              <a:rPr lang="en-ID" b="1" dirty="0" err="1"/>
              <a:t>ke</a:t>
            </a:r>
            <a:r>
              <a:rPr lang="en-ID" b="1" dirty="0"/>
              <a:t> </a:t>
            </a:r>
            <a:r>
              <a:rPr lang="en-ID" b="1" dirty="0" err="1"/>
              <a:t>Persamaan</a:t>
            </a:r>
            <a:endParaRPr lang="en-ID" b="1" dirty="0"/>
          </a:p>
          <a:p>
            <a:pPr marL="0" indent="0">
              <a:buNone/>
            </a:pPr>
            <a:r>
              <a:rPr lang="en-ID" dirty="0"/>
              <a:t>P(7)=120(1+0.10)</a:t>
            </a:r>
            <a:r>
              <a:rPr lang="en-ID" baseline="30000" dirty="0"/>
              <a:t>7</a:t>
            </a:r>
          </a:p>
          <a:p>
            <a:pPr marL="0" indent="0">
              <a:buNone/>
            </a:pPr>
            <a:r>
              <a:rPr lang="en-ID" dirty="0"/>
              <a:t>P(7)=120(1.1)</a:t>
            </a:r>
            <a:r>
              <a:rPr lang="en-ID" baseline="30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77303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EAB2-0107-0FD6-2877-BB0BCC84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4B76-6CF3-A886-B586-C8ED2E2EE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b="1" dirty="0"/>
              <a:t>d. </a:t>
            </a:r>
            <a:r>
              <a:rPr lang="en-ID" b="1" dirty="0" err="1"/>
              <a:t>Menghitung</a:t>
            </a:r>
            <a:r>
              <a:rPr lang="en-ID" b="1" dirty="0"/>
              <a:t> Nilai </a:t>
            </a:r>
            <a:r>
              <a:rPr lang="en-ID" b="1" dirty="0" err="1"/>
              <a:t>Pangkat</a:t>
            </a:r>
            <a:endParaRPr lang="en-ID" b="1" dirty="0"/>
          </a:p>
          <a:p>
            <a:pPr marL="0" indent="0">
              <a:buNone/>
            </a:pPr>
            <a:r>
              <a:rPr lang="en-ID" dirty="0"/>
              <a:t>1.1</a:t>
            </a:r>
            <a:r>
              <a:rPr lang="en-ID" baseline="30000" dirty="0"/>
              <a:t>7</a:t>
            </a:r>
            <a:r>
              <a:rPr lang="en-ID" dirty="0"/>
              <a:t>=1.9487</a:t>
            </a:r>
          </a:p>
          <a:p>
            <a:pPr marL="0" indent="0">
              <a:buNone/>
            </a:pP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:</a:t>
            </a:r>
          </a:p>
          <a:p>
            <a:pPr marL="0" indent="457200">
              <a:buNone/>
            </a:pPr>
            <a:r>
              <a:rPr lang="en-ID" dirty="0"/>
              <a:t>P(7)=120×1.9487</a:t>
            </a:r>
          </a:p>
          <a:p>
            <a:pPr marL="0" indent="457200">
              <a:buNone/>
            </a:pPr>
            <a:r>
              <a:rPr lang="en-ID" dirty="0"/>
              <a:t>P(7)=233.84</a:t>
            </a:r>
          </a:p>
          <a:p>
            <a:r>
              <a:rPr lang="en-ID" b="1" dirty="0"/>
              <a:t>Hasil Akhir</a:t>
            </a:r>
          </a:p>
          <a:p>
            <a:pPr marL="0" indent="0">
              <a:buNone/>
            </a:pPr>
            <a:r>
              <a:rPr lang="en-ID" dirty="0"/>
              <a:t>P(7)≈234</a:t>
            </a:r>
          </a:p>
          <a:p>
            <a:pPr marL="0" indent="0">
              <a:buNone/>
            </a:pPr>
            <a:r>
              <a:rPr lang="en-ID" dirty="0" err="1">
                <a:highlight>
                  <a:srgbClr val="FFFF00"/>
                </a:highlight>
              </a:rPr>
              <a:t>Artinya</a:t>
            </a:r>
            <a:r>
              <a:rPr lang="en-ID" dirty="0">
                <a:highlight>
                  <a:srgbClr val="FFFF00"/>
                </a:highlight>
              </a:rPr>
              <a:t>: </a:t>
            </a:r>
            <a:r>
              <a:rPr lang="en-ID" dirty="0" err="1">
                <a:highlight>
                  <a:srgbClr val="FFFF00"/>
                </a:highlight>
              </a:rPr>
              <a:t>Setelah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b="1" dirty="0">
                <a:highlight>
                  <a:srgbClr val="FFFF00"/>
                </a:highlight>
              </a:rPr>
              <a:t>7 </a:t>
            </a:r>
            <a:r>
              <a:rPr lang="en-ID" b="1" dirty="0" err="1">
                <a:highlight>
                  <a:srgbClr val="FFFF00"/>
                </a:highlight>
              </a:rPr>
              <a:t>hari</a:t>
            </a:r>
            <a:r>
              <a:rPr lang="en-ID" dirty="0">
                <a:highlight>
                  <a:srgbClr val="FFFF00"/>
                </a:highlight>
              </a:rPr>
              <a:t>, </a:t>
            </a:r>
            <a:r>
              <a:rPr lang="en-ID" dirty="0" err="1">
                <a:highlight>
                  <a:srgbClr val="FFFF00"/>
                </a:highlight>
              </a:rPr>
              <a:t>jumlah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pembeli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menjadi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sekitar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b="1" dirty="0">
                <a:highlight>
                  <a:srgbClr val="FFFF00"/>
                </a:highlight>
              </a:rPr>
              <a:t>234 orang per </a:t>
            </a:r>
            <a:r>
              <a:rPr lang="en-ID" b="1" dirty="0" err="1">
                <a:highlight>
                  <a:srgbClr val="FFFF00"/>
                </a:highlight>
              </a:rPr>
              <a:t>ha</a:t>
            </a:r>
            <a:r>
              <a:rPr lang="en-ID" b="1" dirty="0" err="1"/>
              <a:t>ri</a:t>
            </a:r>
            <a:endParaRPr lang="en-ID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399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DDD4-678E-92F1-7F03-2CC10BEF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A1598-BE63-F11F-590F-3BE93E13C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Makna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perhitungan</a:t>
            </a:r>
            <a:r>
              <a:rPr lang="en-ID" dirty="0"/>
              <a:t>: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pembeli</a:t>
            </a:r>
            <a:r>
              <a:rPr lang="en-ID" dirty="0"/>
              <a:t> </a:t>
            </a:r>
            <a:r>
              <a:rPr lang="en-ID" dirty="0" err="1"/>
              <a:t>meningkat</a:t>
            </a:r>
            <a:r>
              <a:rPr lang="en-ID" dirty="0"/>
              <a:t> </a:t>
            </a: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b="1" dirty="0"/>
              <a:t>2 kali </a:t>
            </a:r>
            <a:r>
              <a:rPr lang="en-ID" b="1" dirty="0" err="1"/>
              <a:t>lipat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Kantin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menambah</a:t>
            </a:r>
            <a:r>
              <a:rPr lang="en-ID" dirty="0"/>
              <a:t> </a:t>
            </a:r>
            <a:r>
              <a:rPr lang="en-ID" dirty="0" err="1"/>
              <a:t>stok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makanan</a:t>
            </a:r>
            <a:endParaRPr lang="en-ID" dirty="0"/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menambah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pelayanan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/>
              <a:t>Jika </a:t>
            </a:r>
            <a:r>
              <a:rPr lang="en-ID" dirty="0" err="1"/>
              <a:t>tidak</a:t>
            </a:r>
            <a:r>
              <a:rPr lang="en-ID" dirty="0"/>
              <a:t>,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antrian</a:t>
            </a:r>
            <a:r>
              <a:rPr lang="en-ID" dirty="0"/>
              <a:t> </a:t>
            </a:r>
            <a:r>
              <a:rPr lang="en-ID" dirty="0" err="1"/>
              <a:t>panjang</a:t>
            </a:r>
            <a:endParaRPr lang="en-ID" dirty="0"/>
          </a:p>
          <a:p>
            <a:pPr marL="742950" lvl="1" indent="-285750">
              <a:buFont typeface="+mj-lt"/>
              <a:buAutoNum type="arabicPeriod"/>
            </a:pPr>
            <a:r>
              <a:rPr lang="en-ID" dirty="0" err="1"/>
              <a:t>stok</a:t>
            </a:r>
            <a:r>
              <a:rPr lang="en-ID" dirty="0"/>
              <a:t> </a:t>
            </a:r>
            <a:r>
              <a:rPr lang="en-ID" dirty="0" err="1"/>
              <a:t>habis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862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90ED8-BC8C-483B-FDEE-753ACC1E2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vert="horz" lIns="0" tIns="0" rIns="0" bIns="0" rtlCol="0" anchor="b">
            <a:normAutofit/>
          </a:bodyPr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4C1756B-6C6B-682A-E9EC-3B664179D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904" y="2345638"/>
            <a:ext cx="4911392" cy="35839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Simulasi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Per Hari </a:t>
            </a:r>
            <a:endParaRPr lang="en-US" altLang="en-US" sz="1600" dirty="0"/>
          </a:p>
          <a:p>
            <a:pPr marL="369888" marR="0" lvl="0" indent="-131763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Hari ke-1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sym typeface="Wingdings" pitchFamily="2" charset="2"/>
              </a:rPr>
              <a:t>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120×1.1=132 </a:t>
            </a:r>
          </a:p>
          <a:p>
            <a:pPr marL="369888" indent="-131763"/>
            <a:r>
              <a:rPr lang="en-ID" sz="1600" dirty="0"/>
              <a:t>Hari ke-2 </a:t>
            </a:r>
            <a:r>
              <a:rPr lang="en-ID" sz="1600" dirty="0">
                <a:sym typeface="Wingdings" pitchFamily="2" charset="2"/>
              </a:rPr>
              <a:t> </a:t>
            </a:r>
            <a:r>
              <a:rPr lang="en-ID" sz="1600" dirty="0"/>
              <a:t>132×1.1=145</a:t>
            </a:r>
          </a:p>
          <a:p>
            <a:pPr marL="369888" indent="-131763"/>
            <a:r>
              <a:rPr lang="en-ID" altLang="en-US" sz="1600" dirty="0"/>
              <a:t> ……..</a:t>
            </a:r>
          </a:p>
          <a:p>
            <a:pPr marL="369888" indent="-131763"/>
            <a:r>
              <a:rPr lang="en-ID" sz="1600" dirty="0"/>
              <a:t>Hari </a:t>
            </a:r>
            <a:r>
              <a:rPr lang="en-ID" sz="1600" dirty="0" err="1"/>
              <a:t>ke</a:t>
            </a:r>
            <a:r>
              <a:rPr lang="en-ID" sz="1600" dirty="0"/>
              <a:t>- 7 </a:t>
            </a:r>
            <a:r>
              <a:rPr lang="en-ID" sz="1600" dirty="0">
                <a:sym typeface="Wingdings" pitchFamily="2" charset="2"/>
              </a:rPr>
              <a:t> 214 x 1.1 = 234 </a:t>
            </a:r>
            <a:endParaRPr lang="en-ID" sz="1600" dirty="0"/>
          </a:p>
          <a:p>
            <a:pPr marL="369888" indent="-131763"/>
            <a:endParaRPr lang="en-US" altLang="en-US" sz="1600" dirty="0"/>
          </a:p>
          <a:p>
            <a:r>
              <a:rPr lang="en-ID" sz="1600" dirty="0"/>
              <a:t>Model </a:t>
            </a:r>
            <a:r>
              <a:rPr lang="en-ID" sz="1600" dirty="0" err="1"/>
              <a:t>matematika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:</a:t>
            </a:r>
          </a:p>
          <a:p>
            <a:pPr>
              <a:buFont typeface="+mj-lt"/>
              <a:buAutoNum type="arabicPeriod"/>
            </a:pPr>
            <a:r>
              <a:rPr lang="en-ID" sz="1600" b="1" dirty="0" err="1"/>
              <a:t>memprediksi</a:t>
            </a:r>
            <a:r>
              <a:rPr lang="en-ID" sz="1600" b="1" dirty="0"/>
              <a:t> </a:t>
            </a:r>
            <a:r>
              <a:rPr lang="en-ID" sz="1600" b="1" dirty="0" err="1"/>
              <a:t>kondisi</a:t>
            </a:r>
            <a:r>
              <a:rPr lang="en-ID" sz="1600" b="1" dirty="0"/>
              <a:t> masa </a:t>
            </a:r>
            <a:r>
              <a:rPr lang="en-ID" sz="1600" b="1" dirty="0" err="1"/>
              <a:t>depan</a:t>
            </a:r>
            <a:endParaRPr lang="en-ID" sz="1600" dirty="0"/>
          </a:p>
          <a:p>
            <a:pPr>
              <a:buFont typeface="+mj-lt"/>
              <a:buAutoNum type="arabicPeriod"/>
            </a:pPr>
            <a:r>
              <a:rPr lang="en-ID" sz="1600" b="1" dirty="0" err="1"/>
              <a:t>membantu</a:t>
            </a:r>
            <a:r>
              <a:rPr lang="en-ID" sz="1600" b="1" dirty="0"/>
              <a:t> </a:t>
            </a:r>
            <a:r>
              <a:rPr lang="en-ID" sz="1600" b="1" dirty="0" err="1"/>
              <a:t>pengambilan</a:t>
            </a:r>
            <a:r>
              <a:rPr lang="en-ID" sz="1600" b="1" dirty="0"/>
              <a:t> </a:t>
            </a:r>
            <a:r>
              <a:rPr lang="en-ID" sz="1600" b="1" dirty="0" err="1"/>
              <a:t>keputusan</a:t>
            </a:r>
            <a:endParaRPr lang="en-ID" sz="1600" dirty="0"/>
          </a:p>
          <a:p>
            <a:pPr>
              <a:buFont typeface="+mj-lt"/>
              <a:buAutoNum type="arabicPeriod"/>
            </a:pPr>
            <a:r>
              <a:rPr lang="en-ID" sz="1600" b="1" dirty="0" err="1"/>
              <a:t>melakukan</a:t>
            </a:r>
            <a:r>
              <a:rPr lang="en-ID" sz="1600" b="1" dirty="0"/>
              <a:t> </a:t>
            </a:r>
            <a:r>
              <a:rPr lang="en-ID" sz="1600" b="1" dirty="0" err="1"/>
              <a:t>simulasi</a:t>
            </a:r>
            <a:r>
              <a:rPr lang="en-ID" sz="1600" b="1" dirty="0"/>
              <a:t> </a:t>
            </a:r>
            <a:r>
              <a:rPr lang="en-ID" sz="1600" b="1" dirty="0" err="1"/>
              <a:t>sistem</a:t>
            </a:r>
            <a:endParaRPr lang="en-ID" sz="1600" dirty="0"/>
          </a:p>
          <a:p>
            <a:pPr marL="369888" indent="-131763"/>
            <a:endParaRPr lang="en-US" altLang="en-US" sz="1600" dirty="0"/>
          </a:p>
          <a:p>
            <a:pPr marR="0" lvl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1600" dirty="0"/>
          </a:p>
          <a:p>
            <a:pPr marR="0" lvl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6A6549F-3D15-0E1C-D7D3-21E387FE1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801997"/>
              </p:ext>
            </p:extLst>
          </p:nvPr>
        </p:nvGraphicFramePr>
        <p:xfrm>
          <a:off x="7168672" y="457200"/>
          <a:ext cx="4042096" cy="5472378"/>
        </p:xfrm>
        <a:graphic>
          <a:graphicData uri="http://schemas.openxmlformats.org/drawingml/2006/table">
            <a:tbl>
              <a:tblPr/>
              <a:tblGrid>
                <a:gridCol w="1109369">
                  <a:extLst>
                    <a:ext uri="{9D8B030D-6E8A-4147-A177-3AD203B41FA5}">
                      <a16:colId xmlns:a16="http://schemas.microsoft.com/office/drawing/2014/main" val="3923388760"/>
                    </a:ext>
                  </a:extLst>
                </a:gridCol>
                <a:gridCol w="2932727">
                  <a:extLst>
                    <a:ext uri="{9D8B030D-6E8A-4147-A177-3AD203B41FA5}">
                      <a16:colId xmlns:a16="http://schemas.microsoft.com/office/drawing/2014/main" val="548468721"/>
                    </a:ext>
                  </a:extLst>
                </a:gridCol>
              </a:tblGrid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Hari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Jumlah Pembeli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252418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944445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132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495225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145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636251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160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337039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692494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194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41288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214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417261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2700" b="0" i="0" u="none" strike="noStrike">
                          <a:effectLst/>
                          <a:latin typeface="Arial" panose="020B0604020202020204" pitchFamily="34" charset="0"/>
                        </a:rPr>
                        <a:t>234</a:t>
                      </a:r>
                    </a:p>
                  </a:txBody>
                  <a:tcPr marL="138191" marR="138191" marT="69096" marB="6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115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184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0BF4A1-714C-419E-A19F-578DE93BE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1A9BD-D57F-4941-931F-40597AB3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4DB264-9467-4730-B9E9-C9A97DD66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90128" y="3609527"/>
            <a:ext cx="245834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B097F88-2120-47B4-B891-5B28F66B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227" y="1757079"/>
            <a:ext cx="3900088" cy="4178958"/>
          </a:xfrm>
          <a:custGeom>
            <a:avLst/>
            <a:gdLst>
              <a:gd name="connsiteX0" fmla="*/ 2431956 w 3900088"/>
              <a:gd name="connsiteY0" fmla="*/ 93939 h 4178958"/>
              <a:gd name="connsiteX1" fmla="*/ 3900088 w 3900088"/>
              <a:gd name="connsiteY1" fmla="*/ 2089479 h 4178958"/>
              <a:gd name="connsiteX2" fmla="*/ 1810609 w 3900088"/>
              <a:gd name="connsiteY2" fmla="*/ 4178958 h 4178958"/>
              <a:gd name="connsiteX3" fmla="*/ 77980 w 3900088"/>
              <a:gd name="connsiteY3" fmla="*/ 3257727 h 4178958"/>
              <a:gd name="connsiteX4" fmla="*/ 0 w 3900088"/>
              <a:gd name="connsiteY4" fmla="*/ 3129367 h 4178958"/>
              <a:gd name="connsiteX5" fmla="*/ 831517 w 3900088"/>
              <a:gd name="connsiteY5" fmla="*/ 244059 h 4178958"/>
              <a:gd name="connsiteX6" fmla="*/ 997290 w 3900088"/>
              <a:gd name="connsiteY6" fmla="*/ 164202 h 4178958"/>
              <a:gd name="connsiteX7" fmla="*/ 1810609 w 3900088"/>
              <a:gd name="connsiteY7" fmla="*/ 0 h 4178958"/>
              <a:gd name="connsiteX8" fmla="*/ 2431956 w 3900088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8" h="4178958">
                <a:moveTo>
                  <a:pt x="2431956" y="93939"/>
                </a:moveTo>
                <a:cubicBezTo>
                  <a:pt x="3282517" y="358491"/>
                  <a:pt x="3900088" y="1151865"/>
                  <a:pt x="3900088" y="2089479"/>
                </a:cubicBezTo>
                <a:cubicBezTo>
                  <a:pt x="3900088" y="3243466"/>
                  <a:pt x="2964596" y="4178958"/>
                  <a:pt x="1810609" y="4178958"/>
                </a:cubicBezTo>
                <a:cubicBezTo>
                  <a:pt x="1089367" y="4178958"/>
                  <a:pt x="453475" y="3813531"/>
                  <a:pt x="77980" y="3257727"/>
                </a:cubicBezTo>
                <a:lnTo>
                  <a:pt x="0" y="3129367"/>
                </a:lnTo>
                <a:lnTo>
                  <a:pt x="831517" y="244059"/>
                </a:lnTo>
                <a:lnTo>
                  <a:pt x="997290" y="164202"/>
                </a:lnTo>
                <a:cubicBezTo>
                  <a:pt x="1247271" y="58468"/>
                  <a:pt x="1522112" y="0"/>
                  <a:pt x="1810609" y="0"/>
                </a:cubicBezTo>
                <a:cubicBezTo>
                  <a:pt x="2026982" y="0"/>
                  <a:pt x="2235673" y="32888"/>
                  <a:pt x="2431956" y="93939"/>
                </a:cubicBezTo>
                <a:close/>
              </a:path>
            </a:pathLst>
          </a:custGeom>
          <a:gradFill>
            <a:gsLst>
              <a:gs pos="36000">
                <a:schemeClr val="accent6">
                  <a:lumMod val="60000"/>
                  <a:lumOff val="40000"/>
                  <a:alpha val="6000"/>
                </a:schemeClr>
              </a:gs>
              <a:gs pos="100000">
                <a:schemeClr val="accent6">
                  <a:alpha val="2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9338F5-05AB-4DC5-BD1C-1A9F26C38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0099" y="411154"/>
            <a:ext cx="4395601" cy="358140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29118B-BF97-7F9F-3758-B42D262D9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9456423"/>
              </p:ext>
            </p:extLst>
          </p:nvPr>
        </p:nvGraphicFramePr>
        <p:xfrm>
          <a:off x="4494654" y="457200"/>
          <a:ext cx="7240146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F174A3-8BDA-129A-CBEB-A67B0046FC22}"/>
              </a:ext>
            </a:extLst>
          </p:cNvPr>
          <p:cNvSpPr txBox="1"/>
          <p:nvPr/>
        </p:nvSpPr>
        <p:spPr>
          <a:xfrm>
            <a:off x="163066" y="1861399"/>
            <a:ext cx="35875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 err="1">
                <a:solidFill>
                  <a:schemeClr val="bg1"/>
                </a:solidFill>
              </a:rPr>
              <a:t>Permasalahan</a:t>
            </a:r>
            <a:endParaRPr lang="en-ID" b="1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ID" dirty="0" err="1">
                <a:solidFill>
                  <a:schemeClr val="bg1"/>
                </a:solidFill>
              </a:rPr>
              <a:t>Berapa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jumlah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kasus</a:t>
            </a:r>
            <a:r>
              <a:rPr lang="en-ID" dirty="0">
                <a:solidFill>
                  <a:schemeClr val="bg1"/>
                </a:solidFill>
              </a:rPr>
              <a:t> TB </a:t>
            </a:r>
            <a:r>
              <a:rPr lang="en-ID" dirty="0" err="1">
                <a:solidFill>
                  <a:schemeClr val="bg1"/>
                </a:solidFill>
              </a:rPr>
              <a:t>setelah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b="1" dirty="0">
                <a:solidFill>
                  <a:schemeClr val="bg1"/>
                </a:solidFill>
              </a:rPr>
              <a:t>6 </a:t>
            </a:r>
            <a:r>
              <a:rPr lang="en-ID" b="1" dirty="0" err="1">
                <a:solidFill>
                  <a:schemeClr val="bg1"/>
                </a:solidFill>
              </a:rPr>
              <a:t>bulan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jika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tren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peningkatan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tetap</a:t>
            </a:r>
            <a:r>
              <a:rPr lang="en-ID" dirty="0">
                <a:solidFill>
                  <a:schemeClr val="bg1"/>
                </a:solidFill>
              </a:rPr>
              <a:t> 8% per </a:t>
            </a:r>
            <a:r>
              <a:rPr lang="en-ID" dirty="0" err="1">
                <a:solidFill>
                  <a:schemeClr val="bg1"/>
                </a:solidFill>
              </a:rPr>
              <a:t>bulan</a:t>
            </a:r>
            <a:r>
              <a:rPr lang="en-ID" dirty="0">
                <a:solidFill>
                  <a:schemeClr val="bg1"/>
                </a:solidFill>
              </a:rPr>
              <a:t>?</a:t>
            </a:r>
          </a:p>
          <a:p>
            <a:pPr>
              <a:buFont typeface="+mj-lt"/>
              <a:buAutoNum type="arabicPeriod"/>
            </a:pPr>
            <a:r>
              <a:rPr lang="en-ID" dirty="0" err="1">
                <a:solidFill>
                  <a:schemeClr val="bg1"/>
                </a:solidFill>
              </a:rPr>
              <a:t>Berapa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jumlah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kasus</a:t>
            </a:r>
            <a:r>
              <a:rPr lang="en-ID" dirty="0">
                <a:solidFill>
                  <a:schemeClr val="bg1"/>
                </a:solidFill>
              </a:rPr>
              <a:t> TB </a:t>
            </a:r>
            <a:r>
              <a:rPr lang="en-ID" dirty="0" err="1">
                <a:solidFill>
                  <a:schemeClr val="bg1"/>
                </a:solidFill>
              </a:rPr>
              <a:t>setelah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b="1" dirty="0">
                <a:solidFill>
                  <a:schemeClr val="bg1"/>
                </a:solidFill>
              </a:rPr>
              <a:t>12 </a:t>
            </a:r>
            <a:r>
              <a:rPr lang="en-ID" b="1" dirty="0" err="1">
                <a:solidFill>
                  <a:schemeClr val="bg1"/>
                </a:solidFill>
              </a:rPr>
              <a:t>bulan</a:t>
            </a:r>
            <a:r>
              <a:rPr lang="en-ID" dirty="0">
                <a:solidFill>
                  <a:schemeClr val="bg1"/>
                </a:solidFill>
              </a:rPr>
              <a:t>?</a:t>
            </a:r>
          </a:p>
          <a:p>
            <a:pPr>
              <a:buFont typeface="+mj-lt"/>
              <a:buAutoNum type="arabicPeriod"/>
            </a:pPr>
            <a:r>
              <a:rPr lang="en-ID" dirty="0">
                <a:solidFill>
                  <a:schemeClr val="bg1"/>
                </a:solidFill>
              </a:rPr>
              <a:t>Jika </a:t>
            </a:r>
            <a:r>
              <a:rPr lang="en-ID" dirty="0" err="1">
                <a:solidFill>
                  <a:schemeClr val="bg1"/>
                </a:solidFill>
              </a:rPr>
              <a:t>kapasitas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layanan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pengobatan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hanya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mampu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menangani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b="1" dirty="0">
                <a:solidFill>
                  <a:schemeClr val="bg1"/>
                </a:solidFill>
              </a:rPr>
              <a:t>100 </a:t>
            </a:r>
            <a:r>
              <a:rPr lang="en-ID" b="1" dirty="0" err="1">
                <a:solidFill>
                  <a:schemeClr val="bg1"/>
                </a:solidFill>
              </a:rPr>
              <a:t>pasien</a:t>
            </a:r>
            <a:r>
              <a:rPr lang="en-ID" dirty="0">
                <a:solidFill>
                  <a:schemeClr val="bg1"/>
                </a:solidFill>
              </a:rPr>
              <a:t>, pada </a:t>
            </a:r>
            <a:r>
              <a:rPr lang="en-ID" dirty="0" err="1">
                <a:solidFill>
                  <a:schemeClr val="bg1"/>
                </a:solidFill>
              </a:rPr>
              <a:t>bulan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berapa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kapasitas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tersebut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terlampaui</a:t>
            </a:r>
            <a:r>
              <a:rPr lang="en-ID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9032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071B-9020-CD1A-6284-B0A5F16CB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53DC0-E23D-7B6A-5E93-325FF7B4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/>
              <a:t>Jawab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16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285C-8C77-04DB-3F8C-62BD68A7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7A645-B2A6-64DF-AC3A-A139CCFA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ID" b="1" dirty="0" err="1"/>
              <a:t>Prediksi</a:t>
            </a:r>
            <a:r>
              <a:rPr lang="en-ID" b="1" dirty="0"/>
              <a:t> </a:t>
            </a:r>
            <a:r>
              <a:rPr lang="en-ID" b="1" dirty="0" err="1"/>
              <a:t>Peningkatan</a:t>
            </a:r>
            <a:r>
              <a:rPr lang="en-ID" b="1" dirty="0"/>
              <a:t> </a:t>
            </a:r>
            <a:r>
              <a:rPr lang="en-ID" b="1" dirty="0" err="1"/>
              <a:t>Kasus</a:t>
            </a:r>
            <a:r>
              <a:rPr lang="en-ID" b="1" dirty="0"/>
              <a:t> TB</a:t>
            </a:r>
          </a:p>
          <a:p>
            <a:pPr marL="0" indent="0">
              <a:buNone/>
            </a:pPr>
            <a:r>
              <a:rPr lang="en-ID" b="1" dirty="0" err="1"/>
              <a:t>Diketahui</a:t>
            </a:r>
            <a:endParaRPr lang="en-ID" b="1" dirty="0"/>
          </a:p>
          <a:p>
            <a:pPr marL="0" indent="0">
              <a:buNone/>
            </a:pP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= 50</a:t>
            </a:r>
            <a:br>
              <a:rPr lang="en-ID" dirty="0"/>
            </a:br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= 8% per </a:t>
            </a:r>
            <a:r>
              <a:rPr lang="en-ID" dirty="0" err="1"/>
              <a:t>bulan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Model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/>
              <a:t>model </a:t>
            </a:r>
            <a:r>
              <a:rPr lang="en-ID" b="1" dirty="0" err="1"/>
              <a:t>pertumbuhan</a:t>
            </a:r>
            <a:r>
              <a:rPr lang="en-ID" b="1" dirty="0"/>
              <a:t> </a:t>
            </a:r>
            <a:r>
              <a:rPr lang="en-ID" b="1" dirty="0" err="1"/>
              <a:t>eksponensial</a:t>
            </a:r>
            <a:r>
              <a:rPr lang="en-ID" dirty="0"/>
              <a:t>: </a:t>
            </a:r>
            <a:r>
              <a:rPr lang="en-ID" dirty="0">
                <a:highlight>
                  <a:srgbClr val="FFFF00"/>
                </a:highlight>
              </a:rPr>
              <a:t>P(t)=P0(1+r)</a:t>
            </a:r>
            <a:r>
              <a:rPr lang="en-ID" baseline="30000" dirty="0">
                <a:highlight>
                  <a:srgbClr val="FFFF00"/>
                </a:highlight>
              </a:rPr>
              <a:t>t</a:t>
            </a:r>
          </a:p>
          <a:p>
            <a:pPr marL="0" indent="0">
              <a:buNone/>
            </a:pPr>
            <a:r>
              <a:rPr lang="en-ID" dirty="0"/>
              <a:t> </a:t>
            </a:r>
            <a:r>
              <a:rPr lang="en-ID" dirty="0" err="1"/>
              <a:t>Keterangan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dirty="0"/>
              <a:t>P(t) =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t </a:t>
            </a:r>
            <a:r>
              <a:rPr lang="en-ID" dirty="0" err="1"/>
              <a:t>bulan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P0=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awal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r =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pertumbuhan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t = </a:t>
            </a:r>
            <a:r>
              <a:rPr lang="en-ID" dirty="0" err="1"/>
              <a:t>waktu</a:t>
            </a:r>
            <a:r>
              <a:rPr lang="en-ID" dirty="0"/>
              <a:t> (</a:t>
            </a:r>
            <a:r>
              <a:rPr lang="en-ID" dirty="0" err="1"/>
              <a:t>bulan</a:t>
            </a:r>
            <a:r>
              <a:rPr lang="en-ID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521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EECD-D4E7-D0BB-95D9-C8C806FD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9F288-9313-0D72-1AA6-404AC9ECE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/>
              <a:t>?????</a:t>
            </a:r>
          </a:p>
          <a:p>
            <a:pPr marL="0" indent="0">
              <a:buNone/>
            </a:pPr>
            <a:r>
              <a:rPr lang="en-US" dirty="0"/>
              <a:t>2. ??????</a:t>
            </a:r>
          </a:p>
        </p:txBody>
      </p:sp>
    </p:spTree>
    <p:extLst>
      <p:ext uri="{BB962C8B-B14F-4D97-AF65-F5344CB8AC3E}">
        <p14:creationId xmlns:p14="http://schemas.microsoft.com/office/powerpoint/2010/main" val="267859090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638</Words>
  <Application>Microsoft Macintosh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Avenir Next LT Pro</vt:lpstr>
      <vt:lpstr>GradientRiseVTI</vt:lpstr>
      <vt:lpstr>latihan</vt:lpstr>
      <vt:lpstr>Studi kasus : sistem persedian barang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latihan</dc:title>
  <dc:creator>idoitoffice8</dc:creator>
  <cp:lastModifiedBy>idoitoffice8</cp:lastModifiedBy>
  <cp:revision>5</cp:revision>
  <dcterms:created xsi:type="dcterms:W3CDTF">2026-03-11T07:49:31Z</dcterms:created>
  <dcterms:modified xsi:type="dcterms:W3CDTF">2026-03-25T02:10:35Z</dcterms:modified>
</cp:coreProperties>
</file>